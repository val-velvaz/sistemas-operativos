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8" r:id="rId3"/>
    <p:sldId id="259" r:id="rId4"/>
    <p:sldId id="260" r:id="rId5"/>
    <p:sldId id="261" r:id="rId6"/>
    <p:sldId id="262" r:id="rId7"/>
    <p:sldId id="263" r:id="rId8"/>
    <p:sldId id="264" r:id="rId9"/>
    <p:sldId id="278" r:id="rId10"/>
    <p:sldId id="279" r:id="rId11"/>
    <p:sldId id="265" r:id="rId12"/>
    <p:sldId id="266" r:id="rId13"/>
    <p:sldId id="267" r:id="rId14"/>
    <p:sldId id="268" r:id="rId15"/>
    <p:sldId id="280" r:id="rId16"/>
    <p:sldId id="269" r:id="rId17"/>
    <p:sldId id="270" r:id="rId18"/>
    <p:sldId id="282" r:id="rId19"/>
    <p:sldId id="281" r:id="rId20"/>
    <p:sldId id="283" r:id="rId21"/>
    <p:sldId id="271" r:id="rId22"/>
    <p:sldId id="272" r:id="rId23"/>
    <p:sldId id="273" r:id="rId24"/>
    <p:sldId id="274" r:id="rId25"/>
    <p:sldId id="276" r:id="rId26"/>
    <p:sldId id="277"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35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692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B6DA2-175D-76AF-FCF7-D158EC924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80CAF6-3755-B571-06EA-C310AD3F8F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E5635-EE55-19B0-37C5-3E06952503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A6F35B-A2B2-7F05-CB7C-446B7FE3B25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343881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446A6-D1EA-6945-5707-9D86DA86B9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E5CBFD-52DB-CD90-00C6-027F43A502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EBC713-D020-EE2E-2C5A-3826C9AA0A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2E0DBB-A206-E416-6C33-8121C2EC128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774477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232BF-5673-2D2F-2F96-6E9CAF93C8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2E987E-4A62-C4E0-67F3-C87CD29B4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DE57E-3D31-046D-E792-D0D14193FF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EACA5A-090B-28AE-30D7-FF0C6290EAD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6443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C91B2-637D-7227-E073-F57F19C83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9591F-44AE-5515-3BDB-ADCA97B17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2A7B2-E561-F102-B994-47C9CCA912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49A9E1-122F-9603-38D7-99A3520EB97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3369975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5196E-1E18-6A22-67F8-5DC061A52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9CA84-8028-0743-9F1F-9CA757EF36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8EC434-2281-7937-0A25-0B515664D9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90B151-6CEC-315A-B990-721E1669152E}"/>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6414545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DA7A1-56BA-3DAB-24DD-85B645B4A8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0FC06B-B474-9EAE-01DA-B95084704A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22DC62-2A9A-B23F-05B9-D4A26887FA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3B96C8-43FD-2F1A-BA79-14BE57842D76}"/>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5068699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6035040" y="-731520"/>
            <a:ext cx="4572000" cy="4572000"/>
          </a:xfrm>
          <a:prstGeom prst="ellipse">
            <a:avLst/>
          </a:prstGeom>
          <a:solidFill>
            <a:srgbClr val="0E7C86"/>
          </a:solidFill>
          <a:ln/>
        </p:spPr>
        <p:txBody>
          <a:bodyPr/>
          <a:lstStyle/>
          <a:p>
            <a:endParaRPr lang="en-US"/>
          </a:p>
        </p:txBody>
      </p:sp>
      <p:sp>
        <p:nvSpPr>
          <p:cNvPr id="3" name="Shape 1"/>
          <p:cNvSpPr/>
          <p:nvPr/>
        </p:nvSpPr>
        <p:spPr>
          <a:xfrm>
            <a:off x="7132320" y="2377440"/>
            <a:ext cx="3108960" cy="3108960"/>
          </a:xfrm>
          <a:prstGeom prst="ellipse">
            <a:avLst/>
          </a:prstGeom>
          <a:solidFill>
            <a:srgbClr val="E8A33D"/>
          </a:solidFill>
          <a:ln/>
        </p:spPr>
        <p:txBody>
          <a:bodyPr/>
          <a:lstStyle/>
          <a:p>
            <a:endParaRPr lang="en-US"/>
          </a:p>
        </p:txBody>
      </p:sp>
      <p:sp>
        <p:nvSpPr>
          <p:cNvPr id="4" name="Text 2"/>
          <p:cNvSpPr txBox="1"/>
          <p:nvPr/>
        </p:nvSpPr>
        <p:spPr>
          <a:xfrm>
            <a:off x="731520" y="766688"/>
            <a:ext cx="5486400" cy="365760"/>
          </a:xfrm>
          <a:prstGeom prst="rect">
            <a:avLst/>
          </a:prstGeom>
          <a:noFill/>
          <a:ln/>
        </p:spPr>
        <p:txBody>
          <a:bodyPr wrap="square" lIns="0" tIns="0" rIns="0" bIns="0" rtlCol="0" anchor="ctr"/>
          <a:lstStyle/>
          <a:p>
            <a:pPr marL="0" indent="0">
              <a:buNone/>
            </a:pPr>
            <a:r>
              <a:rPr lang="en-US" sz="1400" b="1" kern="0" spc="400" dirty="0">
                <a:solidFill>
                  <a:srgbClr val="E8A33D"/>
                </a:solidFill>
                <a:latin typeface="Calibri" pitchFamily="34" charset="0"/>
                <a:ea typeface="Calibri" pitchFamily="34" charset="-122"/>
                <a:cs typeface="Calibri" pitchFamily="34" charset="-120"/>
              </a:rPr>
              <a:t>EXCLUSIÓN MUTUA</a:t>
            </a:r>
            <a:endParaRPr lang="en-US" sz="1400" dirty="0"/>
          </a:p>
        </p:txBody>
      </p:sp>
      <p:sp>
        <p:nvSpPr>
          <p:cNvPr id="5" name="Text 3"/>
          <p:cNvSpPr txBox="1"/>
          <p:nvPr/>
        </p:nvSpPr>
        <p:spPr>
          <a:xfrm>
            <a:off x="731520" y="1223888"/>
            <a:ext cx="6035040" cy="15544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Algoritmo de Dekker y algoritmo de Peterson</a:t>
            </a:r>
            <a:endParaRPr lang="en-US" sz="4000" dirty="0"/>
          </a:p>
        </p:txBody>
      </p:sp>
      <p:sp>
        <p:nvSpPr>
          <p:cNvPr id="6" name="Text 4"/>
          <p:cNvSpPr txBox="1"/>
          <p:nvPr/>
        </p:nvSpPr>
        <p:spPr>
          <a:xfrm>
            <a:off x="731520" y="2961248"/>
            <a:ext cx="5486400" cy="640080"/>
          </a:xfrm>
          <a:prstGeom prst="rect">
            <a:avLst/>
          </a:prstGeom>
          <a:noFill/>
          <a:ln/>
        </p:spPr>
        <p:txBody>
          <a:bodyPr wrap="square" lIns="0" tIns="0" rIns="0" bIns="0" rtlCol="0" anchor="ctr"/>
          <a:lstStyle/>
          <a:p>
            <a:pPr marL="0" indent="0">
              <a:buNone/>
            </a:pPr>
            <a:r>
              <a:rPr lang="en-US" sz="1800" dirty="0">
                <a:solidFill>
                  <a:schemeClr val="bg1"/>
                </a:solidFill>
              </a:rPr>
              <a:t>Valeria Catarina Gallegos Goncalves</a:t>
            </a:r>
          </a:p>
          <a:p>
            <a:pPr marL="0" indent="0">
              <a:buNone/>
            </a:pPr>
            <a:r>
              <a:rPr lang="en-US" sz="1800" dirty="0">
                <a:solidFill>
                  <a:schemeClr val="bg1"/>
                </a:solidFill>
              </a:rPr>
              <a:t>Arturo Garza Sánchez Villela</a:t>
            </a:r>
          </a:p>
          <a:p>
            <a:pPr marL="0" indent="0">
              <a:buNone/>
            </a:pPr>
            <a:r>
              <a:rPr lang="en-US" sz="1800" dirty="0">
                <a:solidFill>
                  <a:schemeClr val="bg1"/>
                </a:solidFill>
              </a:rPr>
              <a:t>Valeria Velázquez </a:t>
            </a:r>
            <a:r>
              <a:rPr lang="en-US" sz="1800" dirty="0" err="1">
                <a:solidFill>
                  <a:schemeClr val="bg1"/>
                </a:solidFill>
              </a:rPr>
              <a:t>Velázquez</a:t>
            </a:r>
            <a:endParaRPr lang="en-US" sz="1800" dirty="0">
              <a:solidFill>
                <a:schemeClr val="bg1"/>
              </a:solidFill>
            </a:endParaRPr>
          </a:p>
        </p:txBody>
      </p:sp>
      <p:sp>
        <p:nvSpPr>
          <p:cNvPr id="9" name="CuadroTexto 8">
            <a:extLst>
              <a:ext uri="{FF2B5EF4-FFF2-40B4-BE49-F238E27FC236}">
                <a16:creationId xmlns:a16="http://schemas.microsoft.com/office/drawing/2014/main" id="{A6212823-6107-FCF2-CB7D-A7890A0DD5C5}"/>
              </a:ext>
            </a:extLst>
          </p:cNvPr>
          <p:cNvSpPr txBox="1"/>
          <p:nvPr/>
        </p:nvSpPr>
        <p:spPr>
          <a:xfrm>
            <a:off x="647115" y="4243427"/>
            <a:ext cx="5303520" cy="461665"/>
          </a:xfrm>
          <a:prstGeom prst="rect">
            <a:avLst/>
          </a:prstGeom>
          <a:noFill/>
        </p:spPr>
        <p:txBody>
          <a:bodyPr wrap="square">
            <a:spAutoFit/>
          </a:bodyPr>
          <a:lstStyle/>
          <a:p>
            <a:r>
              <a:rPr lang="en-US" sz="1200" dirty="0">
                <a:solidFill>
                  <a:srgbClr val="9FB3C8"/>
                </a:solidFill>
                <a:latin typeface="Calibri" pitchFamily="34" charset="0"/>
                <a:ea typeface="Calibri" pitchFamily="34" charset="-122"/>
                <a:cs typeface="Calibri" pitchFamily="34" charset="-120"/>
              </a:rPr>
              <a:t>Centro Universitario de </a:t>
            </a:r>
            <a:r>
              <a:rPr lang="en-US" sz="1200" dirty="0" err="1">
                <a:solidFill>
                  <a:srgbClr val="9FB3C8"/>
                </a:solidFill>
                <a:latin typeface="Calibri" pitchFamily="34" charset="0"/>
                <a:ea typeface="Calibri" pitchFamily="34" charset="-122"/>
                <a:cs typeface="Calibri" pitchFamily="34" charset="-120"/>
              </a:rPr>
              <a:t>Ciencias</a:t>
            </a:r>
            <a:r>
              <a:rPr lang="en-US" sz="1200" dirty="0">
                <a:solidFill>
                  <a:srgbClr val="9FB3C8"/>
                </a:solidFill>
                <a:latin typeface="Calibri" pitchFamily="34" charset="0"/>
                <a:ea typeface="Calibri" pitchFamily="34" charset="-122"/>
                <a:cs typeface="Calibri" pitchFamily="34" charset="-120"/>
              </a:rPr>
              <a:t> Exactas e </a:t>
            </a:r>
            <a:r>
              <a:rPr lang="en-US" sz="1200" dirty="0" err="1">
                <a:solidFill>
                  <a:srgbClr val="9FB3C8"/>
                </a:solidFill>
                <a:latin typeface="Calibri" pitchFamily="34" charset="0"/>
                <a:ea typeface="Calibri" pitchFamily="34" charset="-122"/>
                <a:cs typeface="Calibri" pitchFamily="34" charset="-120"/>
              </a:rPr>
              <a:t>Ingenierías</a:t>
            </a:r>
            <a:endParaRPr lang="en-US" sz="1200" dirty="0">
              <a:solidFill>
                <a:srgbClr val="9FB3C8"/>
              </a:solidFill>
              <a:latin typeface="Calibri" pitchFamily="34" charset="0"/>
              <a:ea typeface="Calibri" pitchFamily="34" charset="-122"/>
              <a:cs typeface="Calibri" pitchFamily="34" charset="-120"/>
            </a:endParaRPr>
          </a:p>
          <a:p>
            <a:r>
              <a:rPr lang="en-US" sz="1200" dirty="0">
                <a:solidFill>
                  <a:srgbClr val="9FB3C8"/>
                </a:solidFill>
                <a:latin typeface="Calibri" pitchFamily="34" charset="0"/>
                <a:ea typeface="Calibri" pitchFamily="34" charset="-122"/>
                <a:cs typeface="Calibri" pitchFamily="34" charset="-120"/>
              </a:rPr>
              <a:t>Departamento de </a:t>
            </a:r>
            <a:r>
              <a:rPr lang="en-US" sz="1200" dirty="0" err="1">
                <a:solidFill>
                  <a:srgbClr val="9FB3C8"/>
                </a:solidFill>
                <a:latin typeface="Calibri" pitchFamily="34" charset="0"/>
                <a:ea typeface="Calibri" pitchFamily="34" charset="-122"/>
                <a:cs typeface="Calibri" pitchFamily="34" charset="-120"/>
              </a:rPr>
              <a:t>Ciencias</a:t>
            </a:r>
            <a:r>
              <a:rPr lang="en-US" sz="1200" dirty="0">
                <a:solidFill>
                  <a:srgbClr val="9FB3C8"/>
                </a:solidFill>
                <a:latin typeface="Calibri" pitchFamily="34" charset="0"/>
                <a:ea typeface="Calibri" pitchFamily="34" charset="-122"/>
                <a:cs typeface="Calibri" pitchFamily="34" charset="-120"/>
              </a:rPr>
              <a:t> </a:t>
            </a:r>
            <a:r>
              <a:rPr lang="en-US" sz="1200" dirty="0" err="1">
                <a:solidFill>
                  <a:srgbClr val="9FB3C8"/>
                </a:solidFill>
                <a:latin typeface="Calibri" pitchFamily="34" charset="0"/>
                <a:ea typeface="Calibri" pitchFamily="34" charset="-122"/>
                <a:cs typeface="Calibri" pitchFamily="34" charset="-120"/>
              </a:rPr>
              <a:t>Computacionales</a:t>
            </a:r>
            <a:endParaRPr lang="en-US" sz="1200" dirty="0">
              <a:solidFill>
                <a:srgbClr val="9FB3C8"/>
              </a:solidFill>
              <a:latin typeface="Calibri" pitchFamily="34" charset="0"/>
              <a:ea typeface="Calibri" pitchFamily="34" charset="-122"/>
              <a:cs typeface="Calibri" pitchFamily="34" charset="-120"/>
            </a:endParaRPr>
          </a:p>
        </p:txBody>
      </p:sp>
      <p:sp>
        <p:nvSpPr>
          <p:cNvPr id="11" name="CuadroTexto 10">
            <a:extLst>
              <a:ext uri="{FF2B5EF4-FFF2-40B4-BE49-F238E27FC236}">
                <a16:creationId xmlns:a16="http://schemas.microsoft.com/office/drawing/2014/main" id="{03DF1EC3-A373-8A17-5ED9-E9D1097A95DE}"/>
              </a:ext>
            </a:extLst>
          </p:cNvPr>
          <p:cNvSpPr txBox="1"/>
          <p:nvPr/>
        </p:nvSpPr>
        <p:spPr>
          <a:xfrm>
            <a:off x="3193365" y="4243426"/>
            <a:ext cx="5303520" cy="461665"/>
          </a:xfrm>
          <a:prstGeom prst="rect">
            <a:avLst/>
          </a:prstGeom>
          <a:noFill/>
        </p:spPr>
        <p:txBody>
          <a:bodyPr wrap="square">
            <a:spAutoFit/>
          </a:bodyPr>
          <a:lstStyle/>
          <a:p>
            <a:pPr algn="ctr"/>
            <a:r>
              <a:rPr lang="en-US" sz="1200" dirty="0">
                <a:solidFill>
                  <a:srgbClr val="9FB3C8"/>
                </a:solidFill>
                <a:latin typeface="Calibri" pitchFamily="34" charset="0"/>
                <a:ea typeface="Calibri" pitchFamily="34" charset="-122"/>
                <a:cs typeface="Calibri" pitchFamily="34" charset="-120"/>
              </a:rPr>
              <a:t>Sistemas </a:t>
            </a:r>
            <a:r>
              <a:rPr lang="en-US" sz="1200" dirty="0" err="1">
                <a:solidFill>
                  <a:srgbClr val="9FB3C8"/>
                </a:solidFill>
                <a:latin typeface="Calibri" pitchFamily="34" charset="0"/>
                <a:ea typeface="Calibri" pitchFamily="34" charset="-122"/>
                <a:cs typeface="Calibri" pitchFamily="34" charset="-120"/>
              </a:rPr>
              <a:t>Operativos</a:t>
            </a:r>
            <a:r>
              <a:rPr lang="en-US" sz="1200" dirty="0">
                <a:solidFill>
                  <a:srgbClr val="9FB3C8"/>
                </a:solidFill>
                <a:latin typeface="Calibri" pitchFamily="34" charset="0"/>
                <a:ea typeface="Calibri" pitchFamily="34" charset="-122"/>
                <a:cs typeface="Calibri" pitchFamily="34" charset="-120"/>
              </a:rPr>
              <a:t> - </a:t>
            </a:r>
            <a:r>
              <a:rPr lang="en-US" sz="1200" dirty="0" err="1">
                <a:solidFill>
                  <a:srgbClr val="9FB3C8"/>
                </a:solidFill>
                <a:latin typeface="Calibri" pitchFamily="34" charset="0"/>
                <a:ea typeface="Calibri" pitchFamily="34" charset="-122"/>
                <a:cs typeface="Calibri" pitchFamily="34" charset="-120"/>
              </a:rPr>
              <a:t>Sección</a:t>
            </a:r>
            <a:r>
              <a:rPr lang="en-US" sz="1200" dirty="0">
                <a:solidFill>
                  <a:srgbClr val="9FB3C8"/>
                </a:solidFill>
                <a:latin typeface="Calibri" pitchFamily="34" charset="0"/>
                <a:ea typeface="Calibri" pitchFamily="34" charset="-122"/>
                <a:cs typeface="Calibri" pitchFamily="34" charset="-120"/>
              </a:rPr>
              <a:t>: D09</a:t>
            </a:r>
          </a:p>
          <a:p>
            <a:pPr algn="ctr"/>
            <a:r>
              <a:rPr lang="en-US" sz="1200" dirty="0">
                <a:solidFill>
                  <a:srgbClr val="9FB3C8"/>
                </a:solidFill>
                <a:latin typeface="Calibri" pitchFamily="34" charset="0"/>
                <a:ea typeface="Calibri" pitchFamily="34" charset="-122"/>
                <a:cs typeface="Calibri" pitchFamily="34" charset="-120"/>
              </a:rPr>
              <a:t>Violeta del Rocío Becerra Velázquez</a:t>
            </a:r>
          </a:p>
        </p:txBody>
      </p:sp>
      <p:sp>
        <p:nvSpPr>
          <p:cNvPr id="13" name="CuadroTexto 12">
            <a:extLst>
              <a:ext uri="{FF2B5EF4-FFF2-40B4-BE49-F238E27FC236}">
                <a16:creationId xmlns:a16="http://schemas.microsoft.com/office/drawing/2014/main" id="{38943F08-2128-5B0F-0E30-D00892ECF525}"/>
              </a:ext>
            </a:extLst>
          </p:cNvPr>
          <p:cNvSpPr txBox="1"/>
          <p:nvPr/>
        </p:nvSpPr>
        <p:spPr>
          <a:xfrm>
            <a:off x="647115" y="3773441"/>
            <a:ext cx="3650565" cy="461665"/>
          </a:xfrm>
          <a:prstGeom prst="rect">
            <a:avLst/>
          </a:prstGeom>
          <a:noFill/>
        </p:spPr>
        <p:txBody>
          <a:bodyPr wrap="square">
            <a:spAutoFit/>
          </a:bodyPr>
          <a:lstStyle/>
          <a:p>
            <a:pPr rtl="0">
              <a:buNone/>
            </a:pPr>
            <a:r>
              <a:rPr lang="en-US" sz="1200" dirty="0">
                <a:solidFill>
                  <a:srgbClr val="9FB3C8"/>
                </a:solidFill>
                <a:latin typeface="Calibri" pitchFamily="34" charset="0"/>
                <a:ea typeface="Calibri" pitchFamily="34" charset="-122"/>
                <a:cs typeface="Calibri" pitchFamily="34" charset="-120"/>
              </a:rPr>
              <a:t>Ingeniería </a:t>
            </a:r>
            <a:r>
              <a:rPr lang="en-US" sz="1200" dirty="0" err="1">
                <a:solidFill>
                  <a:srgbClr val="9FB3C8"/>
                </a:solidFill>
                <a:latin typeface="Calibri" pitchFamily="34" charset="0"/>
                <a:ea typeface="Calibri" pitchFamily="34" charset="-122"/>
                <a:cs typeface="Calibri" pitchFamily="34" charset="-120"/>
              </a:rPr>
              <a:t>en</a:t>
            </a:r>
            <a:r>
              <a:rPr lang="en-US" sz="1200" dirty="0">
                <a:solidFill>
                  <a:srgbClr val="9FB3C8"/>
                </a:solidFill>
                <a:latin typeface="Calibri" pitchFamily="34" charset="0"/>
                <a:ea typeface="Calibri" pitchFamily="34" charset="-122"/>
                <a:cs typeface="Calibri" pitchFamily="34" charset="-120"/>
              </a:rPr>
              <a:t> </a:t>
            </a:r>
            <a:r>
              <a:rPr lang="en-US" sz="1200" dirty="0" err="1">
                <a:solidFill>
                  <a:srgbClr val="9FB3C8"/>
                </a:solidFill>
                <a:latin typeface="Calibri" pitchFamily="34" charset="0"/>
                <a:ea typeface="Calibri" pitchFamily="34" charset="-122"/>
                <a:cs typeface="Calibri" pitchFamily="34" charset="-120"/>
              </a:rPr>
              <a:t>Computación</a:t>
            </a:r>
            <a:endParaRPr lang="en-US" sz="1200" dirty="0">
              <a:solidFill>
                <a:srgbClr val="9FB3C8"/>
              </a:solidFill>
              <a:latin typeface="Calibri" pitchFamily="34" charset="0"/>
              <a:ea typeface="Calibri" pitchFamily="34" charset="-122"/>
              <a:cs typeface="Calibri" pitchFamily="34" charset="-120"/>
            </a:endParaRPr>
          </a:p>
          <a:p>
            <a:pPr rtl="0">
              <a:buNone/>
            </a:pPr>
            <a:r>
              <a:rPr lang="en-US" sz="1200" dirty="0">
                <a:solidFill>
                  <a:srgbClr val="9FB3C8"/>
                </a:solidFill>
                <a:latin typeface="Calibri" pitchFamily="34" charset="0"/>
                <a:ea typeface="Calibri" pitchFamily="34" charset="-122"/>
                <a:cs typeface="Calibri" pitchFamily="34" charset="-120"/>
              </a:rPr>
              <a:t>01-10-2026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6583680" y="822960"/>
            <a:ext cx="2926080" cy="2926080"/>
          </a:xfrm>
          <a:prstGeom prst="ellipse">
            <a:avLst/>
          </a:prstGeom>
          <a:solidFill>
            <a:srgbClr val="0E7C86"/>
          </a:solidFill>
          <a:ln/>
        </p:spPr>
        <p:txBody>
          <a:bodyPr/>
          <a:lstStyle/>
          <a:p>
            <a:endParaRPr lang="en-US"/>
          </a:p>
        </p:txBody>
      </p:sp>
      <p:sp>
        <p:nvSpPr>
          <p:cNvPr id="3" name="Text 1"/>
          <p:cNvSpPr txBox="1"/>
          <p:nvPr/>
        </p:nvSpPr>
        <p:spPr>
          <a:xfrm>
            <a:off x="731520" y="1554480"/>
            <a:ext cx="5486400" cy="365760"/>
          </a:xfrm>
          <a:prstGeom prst="rect">
            <a:avLst/>
          </a:prstGeom>
          <a:noFill/>
          <a:ln/>
        </p:spPr>
        <p:txBody>
          <a:bodyPr wrap="square" lIns="0" tIns="0" rIns="0" bIns="0" rtlCol="0" anchor="ctr"/>
          <a:lstStyle/>
          <a:p>
            <a:pPr marL="0" indent="0">
              <a:buNone/>
            </a:pPr>
            <a:r>
              <a:rPr lang="en-US" sz="1400" b="1" kern="0" spc="400" dirty="0">
                <a:solidFill>
                  <a:srgbClr val="E8A33D"/>
                </a:solidFill>
                <a:latin typeface="Calibri" pitchFamily="34" charset="0"/>
                <a:ea typeface="Calibri" pitchFamily="34" charset="-122"/>
                <a:cs typeface="Calibri" pitchFamily="34" charset="-120"/>
              </a:rPr>
              <a:t>PARTE 1</a:t>
            </a:r>
            <a:endParaRPr lang="en-US" sz="1400" dirty="0"/>
          </a:p>
        </p:txBody>
      </p:sp>
      <p:sp>
        <p:nvSpPr>
          <p:cNvPr id="4" name="Text 2"/>
          <p:cNvSpPr txBox="1"/>
          <p:nvPr/>
        </p:nvSpPr>
        <p:spPr>
          <a:xfrm>
            <a:off x="731520" y="2011680"/>
            <a:ext cx="6400800" cy="10972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Algoritmo Dekker</a:t>
            </a:r>
            <a:endParaRPr lang="en-US" sz="4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DEKKER</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1. Contexto histórico</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48640" y="1371600"/>
            <a:ext cx="2560320" cy="3108960"/>
          </a:xfrm>
          <a:prstGeom prst="roundRect">
            <a:avLst>
              <a:gd name="adj" fmla="val 3571"/>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6" name="Shape 4"/>
          <p:cNvSpPr/>
          <p:nvPr/>
        </p:nvSpPr>
        <p:spPr>
          <a:xfrm>
            <a:off x="731520" y="1554480"/>
            <a:ext cx="411480" cy="411480"/>
          </a:xfrm>
          <a:prstGeom prst="ellipse">
            <a:avLst/>
          </a:prstGeom>
          <a:solidFill>
            <a:srgbClr val="0E7C86"/>
          </a:solidFill>
          <a:ln/>
        </p:spPr>
        <p:txBody>
          <a:bodyPr/>
          <a:lstStyle/>
          <a:p>
            <a:endParaRPr lang="en-US"/>
          </a:p>
        </p:txBody>
      </p:sp>
      <p:sp>
        <p:nvSpPr>
          <p:cNvPr id="7" name="Text 5"/>
          <p:cNvSpPr txBox="1"/>
          <p:nvPr/>
        </p:nvSpPr>
        <p:spPr>
          <a:xfrm>
            <a:off x="731520" y="155448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280160" y="1508760"/>
            <a:ext cx="164592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Orígenes</a:t>
            </a:r>
            <a:endParaRPr lang="en-US" sz="1500" dirty="0"/>
          </a:p>
        </p:txBody>
      </p:sp>
      <p:sp>
        <p:nvSpPr>
          <p:cNvPr id="9" name="Text 7"/>
          <p:cNvSpPr txBox="1"/>
          <p:nvPr/>
        </p:nvSpPr>
        <p:spPr>
          <a:xfrm>
            <a:off x="777240" y="2057400"/>
            <a:ext cx="2103120" cy="2286000"/>
          </a:xfrm>
          <a:prstGeom prst="rect">
            <a:avLst/>
          </a:prstGeom>
          <a:noFill/>
          <a:ln/>
        </p:spPr>
        <p:txBody>
          <a:bodyPr wrap="square" lIns="0" tIns="0" rIns="0" bIns="0" rtlCol="0" anchor="t"/>
          <a:lstStyle/>
          <a:p>
            <a:pPr marL="0" indent="0">
              <a:buNone/>
            </a:pPr>
            <a:r>
              <a:rPr lang="en-US" sz="1300" dirty="0">
                <a:solidFill>
                  <a:srgbClr val="1B2733"/>
                </a:solidFill>
                <a:latin typeface="Calibri" pitchFamily="34" charset="0"/>
                <a:ea typeface="Calibri" pitchFamily="34" charset="-122"/>
                <a:cs typeface="Calibri" pitchFamily="34" charset="-120"/>
              </a:rPr>
              <a:t>A finales del siglo XIX y principios del XX, la industria ferroviaria necesitaba evitar colisiones de trenes en vías compartidas (solucionado con semáforos).</a:t>
            </a:r>
            <a:endParaRPr lang="en-US" sz="1300" dirty="0"/>
          </a:p>
        </p:txBody>
      </p:sp>
      <p:sp>
        <p:nvSpPr>
          <p:cNvPr id="10" name="Shape 8"/>
          <p:cNvSpPr/>
          <p:nvPr/>
        </p:nvSpPr>
        <p:spPr>
          <a:xfrm>
            <a:off x="3291840" y="1371600"/>
            <a:ext cx="2560320" cy="3108960"/>
          </a:xfrm>
          <a:prstGeom prst="roundRect">
            <a:avLst>
              <a:gd name="adj" fmla="val 3571"/>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1" name="Shape 9"/>
          <p:cNvSpPr/>
          <p:nvPr/>
        </p:nvSpPr>
        <p:spPr>
          <a:xfrm>
            <a:off x="3474720" y="1554480"/>
            <a:ext cx="411480" cy="411480"/>
          </a:xfrm>
          <a:prstGeom prst="ellipse">
            <a:avLst/>
          </a:prstGeom>
          <a:solidFill>
            <a:srgbClr val="0E7C86"/>
          </a:solidFill>
          <a:ln/>
        </p:spPr>
        <p:txBody>
          <a:bodyPr/>
          <a:lstStyle/>
          <a:p>
            <a:endParaRPr lang="en-US"/>
          </a:p>
        </p:txBody>
      </p:sp>
      <p:sp>
        <p:nvSpPr>
          <p:cNvPr id="12" name="Text 10"/>
          <p:cNvSpPr txBox="1"/>
          <p:nvPr/>
        </p:nvSpPr>
        <p:spPr>
          <a:xfrm>
            <a:off x="3474720" y="155448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4023360" y="1508760"/>
            <a:ext cx="164592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Evolución</a:t>
            </a:r>
            <a:endParaRPr lang="en-US" sz="1500" dirty="0"/>
          </a:p>
        </p:txBody>
      </p:sp>
      <p:sp>
        <p:nvSpPr>
          <p:cNvPr id="14" name="Text 12"/>
          <p:cNvSpPr txBox="1"/>
          <p:nvPr/>
        </p:nvSpPr>
        <p:spPr>
          <a:xfrm>
            <a:off x="3520440" y="2057400"/>
            <a:ext cx="2103120" cy="2286000"/>
          </a:xfrm>
          <a:prstGeom prst="rect">
            <a:avLst/>
          </a:prstGeom>
          <a:noFill/>
          <a:ln/>
        </p:spPr>
        <p:txBody>
          <a:bodyPr wrap="square" lIns="0" tIns="0" rIns="0" bIns="0" rtlCol="0" anchor="t"/>
          <a:lstStyle/>
          <a:p>
            <a:pPr marL="0" indent="0">
              <a:buNone/>
            </a:pPr>
            <a:r>
              <a:rPr lang="en-US" sz="1300" dirty="0">
                <a:solidFill>
                  <a:srgbClr val="1B2733"/>
                </a:solidFill>
                <a:latin typeface="Calibri" pitchFamily="34" charset="0"/>
                <a:ea typeface="Calibri" pitchFamily="34" charset="-122"/>
                <a:cs typeface="Calibri" pitchFamily="34" charset="-120"/>
              </a:rPr>
              <a:t>Luego, la telegrafía enfrentó un reto similar: manejar múltiples transmisiones en canales limitados (solucionado con multiplexores).</a:t>
            </a:r>
            <a:endParaRPr lang="en-US" sz="1300" dirty="0"/>
          </a:p>
        </p:txBody>
      </p:sp>
      <p:sp>
        <p:nvSpPr>
          <p:cNvPr id="15" name="Shape 13"/>
          <p:cNvSpPr/>
          <p:nvPr/>
        </p:nvSpPr>
        <p:spPr>
          <a:xfrm>
            <a:off x="6035040" y="1371600"/>
            <a:ext cx="2560320" cy="3108960"/>
          </a:xfrm>
          <a:prstGeom prst="roundRect">
            <a:avLst>
              <a:gd name="adj" fmla="val 3571"/>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6" name="Shape 14"/>
          <p:cNvSpPr/>
          <p:nvPr/>
        </p:nvSpPr>
        <p:spPr>
          <a:xfrm>
            <a:off x="6217920" y="1554480"/>
            <a:ext cx="411480" cy="411480"/>
          </a:xfrm>
          <a:prstGeom prst="ellipse">
            <a:avLst/>
          </a:prstGeom>
          <a:solidFill>
            <a:srgbClr val="0E7C86"/>
          </a:solidFill>
          <a:ln/>
        </p:spPr>
        <p:txBody>
          <a:bodyPr/>
          <a:lstStyle/>
          <a:p>
            <a:endParaRPr lang="en-US"/>
          </a:p>
        </p:txBody>
      </p:sp>
      <p:sp>
        <p:nvSpPr>
          <p:cNvPr id="17" name="Text 15"/>
          <p:cNvSpPr txBox="1"/>
          <p:nvPr/>
        </p:nvSpPr>
        <p:spPr>
          <a:xfrm>
            <a:off x="6217920" y="155448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6766560" y="1508760"/>
            <a:ext cx="164592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La era del cómputo</a:t>
            </a:r>
            <a:endParaRPr lang="en-US" sz="1500" dirty="0"/>
          </a:p>
        </p:txBody>
      </p:sp>
      <p:sp>
        <p:nvSpPr>
          <p:cNvPr id="19" name="Text 17"/>
          <p:cNvSpPr txBox="1"/>
          <p:nvPr/>
        </p:nvSpPr>
        <p:spPr>
          <a:xfrm>
            <a:off x="6263640" y="2057400"/>
            <a:ext cx="2103120" cy="2286000"/>
          </a:xfrm>
          <a:prstGeom prst="rect">
            <a:avLst/>
          </a:prstGeom>
          <a:noFill/>
          <a:ln/>
        </p:spPr>
        <p:txBody>
          <a:bodyPr wrap="square" lIns="0" tIns="0" rIns="0" bIns="0" rtlCol="0" anchor="t"/>
          <a:lstStyle/>
          <a:p>
            <a:pPr marL="0" indent="0">
              <a:buNone/>
            </a:pPr>
            <a:r>
              <a:rPr lang="en-US" sz="1200" dirty="0">
                <a:solidFill>
                  <a:srgbClr val="1B2733"/>
                </a:solidFill>
                <a:latin typeface="Calibri" pitchFamily="34" charset="0"/>
                <a:ea typeface="Calibri" pitchFamily="34" charset="-122"/>
                <a:cs typeface="Calibri" pitchFamily="34" charset="-120"/>
              </a:rPr>
              <a:t>En los años 60, el problema evolucionó hacia cómo administrar el acceso a recursos computacionales compartidos. E.W. Dijkstra dedicó tres años a investigar este problema, y el matemático T.J. Dekker formuló la primera solución exitosa.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DEKKER</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2. ¿Qué es el Algoritmo de Dekker?</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1371600"/>
            <a:ext cx="8046720" cy="822960"/>
          </a:xfrm>
          <a:prstGeom prst="rect">
            <a:avLst/>
          </a:prstGeom>
          <a:noFill/>
          <a:ln/>
        </p:spPr>
        <p:txBody>
          <a:bodyPr wrap="square" lIns="0" tIns="0" rIns="0" bIns="0" rtlCol="0" anchor="ctr"/>
          <a:lstStyle/>
          <a:p>
            <a:pPr marL="0" indent="0">
              <a:buNone/>
            </a:pPr>
            <a:r>
              <a:rPr lang="en-US" sz="1600" dirty="0">
                <a:solidFill>
                  <a:srgbClr val="1B2733"/>
                </a:solidFill>
                <a:latin typeface="Calibri" pitchFamily="34" charset="0"/>
                <a:ea typeface="Calibri" pitchFamily="34" charset="-122"/>
                <a:cs typeface="Calibri" pitchFamily="34" charset="-120"/>
              </a:rPr>
              <a:t>Es un algoritmo de programación concurrente diseñado para resolver el problema de la sección crítica (cuando dos procesos intentan compartir un mismo recurso al mismo tiempo).</a:t>
            </a:r>
            <a:endParaRPr lang="en-US" sz="1600" dirty="0"/>
          </a:p>
        </p:txBody>
      </p:sp>
      <p:sp>
        <p:nvSpPr>
          <p:cNvPr id="6" name="Shape 4"/>
          <p:cNvSpPr/>
          <p:nvPr/>
        </p:nvSpPr>
        <p:spPr>
          <a:xfrm>
            <a:off x="548640" y="2377440"/>
            <a:ext cx="3931920" cy="2103120"/>
          </a:xfrm>
          <a:prstGeom prst="roundRect">
            <a:avLst>
              <a:gd name="adj" fmla="val 4348"/>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7" name="Text 5"/>
          <p:cNvSpPr txBox="1"/>
          <p:nvPr/>
        </p:nvSpPr>
        <p:spPr>
          <a:xfrm>
            <a:off x="731520" y="2514600"/>
            <a:ext cx="3566160" cy="502920"/>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¿Por qué es histórico?</a:t>
            </a:r>
            <a:endParaRPr lang="en-US" sz="1700" dirty="0"/>
          </a:p>
        </p:txBody>
      </p:sp>
      <p:sp>
        <p:nvSpPr>
          <p:cNvPr id="8" name="Text 6"/>
          <p:cNvSpPr txBox="1"/>
          <p:nvPr/>
        </p:nvSpPr>
        <p:spPr>
          <a:xfrm>
            <a:off x="777240" y="3063240"/>
            <a:ext cx="3474720" cy="1280160"/>
          </a:xfrm>
          <a:prstGeom prst="rect">
            <a:avLst/>
          </a:prstGeom>
          <a:noFill/>
          <a:ln/>
        </p:spPr>
        <p:txBody>
          <a:bodyPr wrap="square" lIns="0" tIns="0" rIns="0" bIns="0" rtlCol="0" anchor="t"/>
          <a:lstStyle/>
          <a:p>
            <a:pPr marL="0" indent="0">
              <a:buNone/>
            </a:pPr>
            <a:r>
              <a:rPr lang="en-US" sz="1400" dirty="0">
                <a:solidFill>
                  <a:srgbClr val="1B2733"/>
                </a:solidFill>
                <a:latin typeface="Calibri" pitchFamily="34" charset="0"/>
                <a:ea typeface="Calibri" pitchFamily="34" charset="-122"/>
                <a:cs typeface="Calibri" pitchFamily="34" charset="-120"/>
              </a:rPr>
              <a:t>Fue la primera solución correcta para dos procesos. Utiliza únicamente memoria compartida (banderas booleanas y una variable de turno).</a:t>
            </a:r>
            <a:endParaRPr lang="en-US" sz="1400" dirty="0"/>
          </a:p>
        </p:txBody>
      </p:sp>
      <p:sp>
        <p:nvSpPr>
          <p:cNvPr id="9" name="Shape 7"/>
          <p:cNvSpPr/>
          <p:nvPr/>
        </p:nvSpPr>
        <p:spPr>
          <a:xfrm>
            <a:off x="4663440" y="2377440"/>
            <a:ext cx="3931920" cy="2103120"/>
          </a:xfrm>
          <a:prstGeom prst="roundRect">
            <a:avLst>
              <a:gd name="adj" fmla="val 4348"/>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0" name="Text 8"/>
          <p:cNvSpPr txBox="1"/>
          <p:nvPr/>
        </p:nvSpPr>
        <p:spPr>
          <a:xfrm>
            <a:off x="4846320" y="2514600"/>
            <a:ext cx="3566160" cy="502920"/>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Garantiza 3 cosas</a:t>
            </a:r>
            <a:endParaRPr lang="en-US" sz="1700" dirty="0"/>
          </a:p>
        </p:txBody>
      </p:sp>
      <p:sp>
        <p:nvSpPr>
          <p:cNvPr id="11" name="Text 9"/>
          <p:cNvSpPr txBox="1"/>
          <p:nvPr/>
        </p:nvSpPr>
        <p:spPr>
          <a:xfrm>
            <a:off x="4892040" y="3063240"/>
            <a:ext cx="3474720" cy="1280160"/>
          </a:xfrm>
          <a:prstGeom prst="rect">
            <a:avLst/>
          </a:prstGeom>
          <a:noFill/>
          <a:ln/>
        </p:spPr>
        <p:txBody>
          <a:bodyPr wrap="square" lIns="0" tIns="0" rIns="0" bIns="0" rtlCol="0" anchor="t"/>
          <a:lstStyle/>
          <a:p>
            <a:pPr marL="0" indent="0">
              <a:buNone/>
            </a:pPr>
            <a:r>
              <a:rPr lang="en-US" sz="1400" dirty="0">
                <a:solidFill>
                  <a:srgbClr val="1B2733"/>
                </a:solidFill>
                <a:latin typeface="Calibri" pitchFamily="34" charset="0"/>
                <a:ea typeface="Calibri" pitchFamily="34" charset="-122"/>
                <a:cs typeface="Calibri" pitchFamily="34" charset="-120"/>
              </a:rPr>
              <a:t>Exclusión mutua (no entran al mismo tiempo)</a:t>
            </a:r>
            <a:endParaRPr lang="en-US" sz="1400" dirty="0"/>
          </a:p>
          <a:p>
            <a:pPr marL="0" indent="0">
              <a:buNone/>
            </a:pPr>
            <a:r>
              <a:rPr lang="en-US" sz="1400" dirty="0">
                <a:solidFill>
                  <a:srgbClr val="1B2733"/>
                </a:solidFill>
                <a:latin typeface="Calibri" pitchFamily="34" charset="0"/>
                <a:ea typeface="Calibri" pitchFamily="34" charset="-122"/>
                <a:cs typeface="Calibri" pitchFamily="34" charset="-120"/>
              </a:rPr>
              <a:t>Progreso (el sistema no se estanca)</a:t>
            </a:r>
            <a:endParaRPr lang="en-US" sz="1400" dirty="0"/>
          </a:p>
          <a:p>
            <a:pPr marL="0" indent="0">
              <a:buNone/>
            </a:pPr>
            <a:r>
              <a:rPr lang="en-US" sz="1400" dirty="0">
                <a:solidFill>
                  <a:srgbClr val="1B2733"/>
                </a:solidFill>
                <a:latin typeface="Calibri" pitchFamily="34" charset="0"/>
                <a:ea typeface="Calibri" pitchFamily="34" charset="-122"/>
                <a:cs typeface="Calibri" pitchFamily="34" charset="-120"/>
              </a:rPr>
              <a:t>Espera acotada (ningún proceso espera para siempre)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DEKKER</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3. Condiciones de funcionamiento</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6</a:t>
            </a:r>
            <a:endParaRPr lang="en-US" sz="1000" dirty="0"/>
          </a:p>
        </p:txBody>
      </p:sp>
      <p:sp>
        <p:nvSpPr>
          <p:cNvPr id="5" name="Text 3"/>
          <p:cNvSpPr txBox="1"/>
          <p:nvPr/>
        </p:nvSpPr>
        <p:spPr>
          <a:xfrm>
            <a:off x="548640" y="1280160"/>
            <a:ext cx="8046720" cy="365760"/>
          </a:xfrm>
          <a:prstGeom prst="rect">
            <a:avLst/>
          </a:prstGeom>
          <a:noFill/>
          <a:ln/>
        </p:spPr>
        <p:txBody>
          <a:bodyPr wrap="square" lIns="0" tIns="0" rIns="0" bIns="0" rtlCol="0" anchor="ctr"/>
          <a:lstStyle/>
          <a:p>
            <a:pPr marL="0" indent="0">
              <a:buNone/>
            </a:pPr>
            <a:r>
              <a:rPr lang="en-US" sz="1500" dirty="0">
                <a:solidFill>
                  <a:srgbClr val="5B6B7A"/>
                </a:solidFill>
                <a:latin typeface="Calibri" pitchFamily="34" charset="0"/>
                <a:ea typeface="Calibri" pitchFamily="34" charset="-122"/>
                <a:cs typeface="Calibri" pitchFamily="34" charset="-120"/>
              </a:rPr>
              <a:t>Para que el algoritmo funcione correctamente, se asumen 4 reglas básicas:</a:t>
            </a:r>
            <a:endParaRPr lang="en-US" sz="1500" dirty="0"/>
          </a:p>
        </p:txBody>
      </p:sp>
      <p:sp>
        <p:nvSpPr>
          <p:cNvPr id="6" name="Shape 4"/>
          <p:cNvSpPr/>
          <p:nvPr/>
        </p:nvSpPr>
        <p:spPr>
          <a:xfrm>
            <a:off x="548640" y="1783080"/>
            <a:ext cx="3931920" cy="1325880"/>
          </a:xfrm>
          <a:prstGeom prst="roundRect">
            <a:avLst>
              <a:gd name="adj" fmla="val 6897"/>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7" name="Shape 5"/>
          <p:cNvSpPr/>
          <p:nvPr/>
        </p:nvSpPr>
        <p:spPr>
          <a:xfrm>
            <a:off x="731520" y="1965960"/>
            <a:ext cx="411480" cy="411480"/>
          </a:xfrm>
          <a:prstGeom prst="ellipse">
            <a:avLst/>
          </a:prstGeom>
          <a:solidFill>
            <a:srgbClr val="0E7C86"/>
          </a:solidFill>
          <a:ln/>
        </p:spPr>
        <p:txBody>
          <a:bodyPr/>
          <a:lstStyle/>
          <a:p>
            <a:endParaRPr lang="en-US"/>
          </a:p>
        </p:txBody>
      </p:sp>
      <p:sp>
        <p:nvSpPr>
          <p:cNvPr id="8" name="Text 6"/>
          <p:cNvSpPr txBox="1"/>
          <p:nvPr/>
        </p:nvSpPr>
        <p:spPr>
          <a:xfrm>
            <a:off x="731520" y="196596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1280160" y="1920240"/>
            <a:ext cx="3017520" cy="50292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Sin jerarquías</a:t>
            </a:r>
            <a:endParaRPr lang="en-US" sz="1600" dirty="0"/>
          </a:p>
        </p:txBody>
      </p:sp>
      <p:sp>
        <p:nvSpPr>
          <p:cNvPr id="10" name="Text 8"/>
          <p:cNvSpPr txBox="1"/>
          <p:nvPr/>
        </p:nvSpPr>
        <p:spPr>
          <a:xfrm>
            <a:off x="777240" y="2468880"/>
            <a:ext cx="3474720" cy="502920"/>
          </a:xfrm>
          <a:prstGeom prst="rect">
            <a:avLst/>
          </a:prstGeom>
          <a:noFill/>
          <a:ln/>
        </p:spPr>
        <p:txBody>
          <a:bodyPr wrap="square" lIns="0" tIns="0" rIns="0" bIns="0" rtlCol="0" anchor="t"/>
          <a:lstStyle/>
          <a:p>
            <a:pPr marL="0" indent="0">
              <a:buNone/>
            </a:pPr>
            <a:r>
              <a:rPr lang="en-US" sz="1300" dirty="0">
                <a:solidFill>
                  <a:srgbClr val="1B2733"/>
                </a:solidFill>
                <a:latin typeface="Calibri" pitchFamily="34" charset="0"/>
                <a:ea typeface="Calibri" pitchFamily="34" charset="-122"/>
                <a:cs typeface="Calibri" pitchFamily="34" charset="-120"/>
              </a:rPr>
              <a:t>No existe prioridad entre los procesos.</a:t>
            </a:r>
            <a:endParaRPr lang="en-US" sz="1300" dirty="0"/>
          </a:p>
        </p:txBody>
      </p:sp>
      <p:sp>
        <p:nvSpPr>
          <p:cNvPr id="11" name="Shape 9"/>
          <p:cNvSpPr/>
          <p:nvPr/>
        </p:nvSpPr>
        <p:spPr>
          <a:xfrm>
            <a:off x="4663440" y="1783080"/>
            <a:ext cx="3931920" cy="1325880"/>
          </a:xfrm>
          <a:prstGeom prst="roundRect">
            <a:avLst>
              <a:gd name="adj" fmla="val 6897"/>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2" name="Shape 10"/>
          <p:cNvSpPr/>
          <p:nvPr/>
        </p:nvSpPr>
        <p:spPr>
          <a:xfrm>
            <a:off x="4846320" y="1965960"/>
            <a:ext cx="411480" cy="411480"/>
          </a:xfrm>
          <a:prstGeom prst="ellipse">
            <a:avLst/>
          </a:prstGeom>
          <a:solidFill>
            <a:srgbClr val="0E7C86"/>
          </a:solidFill>
          <a:ln/>
        </p:spPr>
        <p:txBody>
          <a:bodyPr/>
          <a:lstStyle/>
          <a:p>
            <a:endParaRPr lang="en-US"/>
          </a:p>
        </p:txBody>
      </p:sp>
      <p:sp>
        <p:nvSpPr>
          <p:cNvPr id="13" name="Text 11"/>
          <p:cNvSpPr txBox="1"/>
          <p:nvPr/>
        </p:nvSpPr>
        <p:spPr>
          <a:xfrm>
            <a:off x="4846320" y="196596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txBox="1"/>
          <p:nvPr/>
        </p:nvSpPr>
        <p:spPr>
          <a:xfrm>
            <a:off x="5394960" y="1920240"/>
            <a:ext cx="3017520" cy="50292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Hardware neutral</a:t>
            </a:r>
            <a:endParaRPr lang="en-US" sz="1600" dirty="0"/>
          </a:p>
        </p:txBody>
      </p:sp>
      <p:sp>
        <p:nvSpPr>
          <p:cNvPr id="15" name="Text 13"/>
          <p:cNvSpPr txBox="1"/>
          <p:nvPr/>
        </p:nvSpPr>
        <p:spPr>
          <a:xfrm>
            <a:off x="4892040" y="2468880"/>
            <a:ext cx="3474720" cy="502920"/>
          </a:xfrm>
          <a:prstGeom prst="rect">
            <a:avLst/>
          </a:prstGeom>
          <a:noFill/>
          <a:ln/>
        </p:spPr>
        <p:txBody>
          <a:bodyPr wrap="square" lIns="0" tIns="0" rIns="0" bIns="0" rtlCol="0" anchor="t"/>
          <a:lstStyle/>
          <a:p>
            <a:pPr marL="0" indent="0">
              <a:buNone/>
            </a:pPr>
            <a:r>
              <a:rPr lang="en-US" sz="1300" dirty="0">
                <a:solidFill>
                  <a:srgbClr val="1B2733"/>
                </a:solidFill>
                <a:latin typeface="Calibri" pitchFamily="34" charset="0"/>
                <a:ea typeface="Calibri" pitchFamily="34" charset="-122"/>
                <a:cs typeface="Calibri" pitchFamily="34" charset="-120"/>
              </a:rPr>
              <a:t>La velocidad o capacidad de los equipos es irrelevante.</a:t>
            </a:r>
            <a:endParaRPr lang="en-US" sz="1300" dirty="0"/>
          </a:p>
        </p:txBody>
      </p:sp>
      <p:sp>
        <p:nvSpPr>
          <p:cNvPr id="16" name="Shape 14"/>
          <p:cNvSpPr/>
          <p:nvPr/>
        </p:nvSpPr>
        <p:spPr>
          <a:xfrm>
            <a:off x="548640" y="3246120"/>
            <a:ext cx="3931920" cy="1325880"/>
          </a:xfrm>
          <a:prstGeom prst="roundRect">
            <a:avLst>
              <a:gd name="adj" fmla="val 6897"/>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7" name="Shape 15"/>
          <p:cNvSpPr/>
          <p:nvPr/>
        </p:nvSpPr>
        <p:spPr>
          <a:xfrm>
            <a:off x="731520" y="3429000"/>
            <a:ext cx="411480" cy="411480"/>
          </a:xfrm>
          <a:prstGeom prst="ellipse">
            <a:avLst/>
          </a:prstGeom>
          <a:solidFill>
            <a:srgbClr val="0E7C86"/>
          </a:solidFill>
          <a:ln/>
        </p:spPr>
        <p:txBody>
          <a:bodyPr/>
          <a:lstStyle/>
          <a:p>
            <a:endParaRPr lang="en-US"/>
          </a:p>
        </p:txBody>
      </p:sp>
      <p:sp>
        <p:nvSpPr>
          <p:cNvPr id="18" name="Text 16"/>
          <p:cNvSpPr txBox="1"/>
          <p:nvPr/>
        </p:nvSpPr>
        <p:spPr>
          <a:xfrm>
            <a:off x="731520" y="342900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txBox="1"/>
          <p:nvPr/>
        </p:nvSpPr>
        <p:spPr>
          <a:xfrm>
            <a:off x="1280160" y="3383280"/>
            <a:ext cx="3017520" cy="50292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Tolerancia a fallos parcial</a:t>
            </a:r>
            <a:endParaRPr lang="en-US" sz="1600" dirty="0"/>
          </a:p>
        </p:txBody>
      </p:sp>
      <p:sp>
        <p:nvSpPr>
          <p:cNvPr id="20" name="Text 18"/>
          <p:cNvSpPr txBox="1"/>
          <p:nvPr/>
        </p:nvSpPr>
        <p:spPr>
          <a:xfrm>
            <a:off x="777240" y="3931920"/>
            <a:ext cx="3474720" cy="502920"/>
          </a:xfrm>
          <a:prstGeom prst="rect">
            <a:avLst/>
          </a:prstGeom>
          <a:noFill/>
          <a:ln/>
        </p:spPr>
        <p:txBody>
          <a:bodyPr wrap="square" lIns="0" tIns="0" rIns="0" bIns="0" rtlCol="0" anchor="t"/>
          <a:lstStyle/>
          <a:p>
            <a:pPr marL="0" indent="0">
              <a:buNone/>
            </a:pPr>
            <a:r>
              <a:rPr lang="en-US" sz="1300" dirty="0">
                <a:solidFill>
                  <a:srgbClr val="1B2733"/>
                </a:solidFill>
                <a:latin typeface="Calibri" pitchFamily="34" charset="0"/>
                <a:ea typeface="Calibri" pitchFamily="34" charset="-122"/>
                <a:cs typeface="Calibri" pitchFamily="34" charset="-120"/>
              </a:rPr>
              <a:t>Si un proceso "muere" fuera de la región crítica, el algoritmo debe seguir funcionando para el otro proceso.</a:t>
            </a:r>
            <a:endParaRPr lang="en-US" sz="1300" dirty="0"/>
          </a:p>
        </p:txBody>
      </p:sp>
      <p:sp>
        <p:nvSpPr>
          <p:cNvPr id="21" name="Shape 19"/>
          <p:cNvSpPr/>
          <p:nvPr/>
        </p:nvSpPr>
        <p:spPr>
          <a:xfrm>
            <a:off x="4663440" y="3246120"/>
            <a:ext cx="3931920" cy="1325880"/>
          </a:xfrm>
          <a:prstGeom prst="roundRect">
            <a:avLst>
              <a:gd name="adj" fmla="val 6897"/>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22" name="Shape 20"/>
          <p:cNvSpPr/>
          <p:nvPr/>
        </p:nvSpPr>
        <p:spPr>
          <a:xfrm>
            <a:off x="4846320" y="3429000"/>
            <a:ext cx="411480" cy="411480"/>
          </a:xfrm>
          <a:prstGeom prst="ellipse">
            <a:avLst/>
          </a:prstGeom>
          <a:solidFill>
            <a:srgbClr val="0E7C86"/>
          </a:solidFill>
          <a:ln/>
        </p:spPr>
        <p:txBody>
          <a:bodyPr/>
          <a:lstStyle/>
          <a:p>
            <a:endParaRPr lang="en-US"/>
          </a:p>
        </p:txBody>
      </p:sp>
      <p:sp>
        <p:nvSpPr>
          <p:cNvPr id="23" name="Text 21"/>
          <p:cNvSpPr txBox="1"/>
          <p:nvPr/>
        </p:nvSpPr>
        <p:spPr>
          <a:xfrm>
            <a:off x="4846320" y="342900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4" name="Text 22"/>
          <p:cNvSpPr txBox="1"/>
          <p:nvPr/>
        </p:nvSpPr>
        <p:spPr>
          <a:xfrm>
            <a:off x="5394960" y="3383280"/>
            <a:ext cx="3017520" cy="50292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Sin estancamientos</a:t>
            </a:r>
            <a:endParaRPr lang="en-US" sz="1600" dirty="0"/>
          </a:p>
        </p:txBody>
      </p:sp>
      <p:sp>
        <p:nvSpPr>
          <p:cNvPr id="25" name="Text 23"/>
          <p:cNvSpPr txBox="1"/>
          <p:nvPr/>
        </p:nvSpPr>
        <p:spPr>
          <a:xfrm>
            <a:off x="4892040" y="3931920"/>
            <a:ext cx="3474720" cy="502920"/>
          </a:xfrm>
          <a:prstGeom prst="rect">
            <a:avLst/>
          </a:prstGeom>
          <a:noFill/>
          <a:ln/>
        </p:spPr>
        <p:txBody>
          <a:bodyPr wrap="square" lIns="0" tIns="0" rIns="0" bIns="0" rtlCol="0" anchor="t"/>
          <a:lstStyle/>
          <a:p>
            <a:pPr marL="0" indent="0">
              <a:buNone/>
            </a:pPr>
            <a:r>
              <a:rPr lang="en-US" sz="1300" dirty="0">
                <a:solidFill>
                  <a:srgbClr val="1B2733"/>
                </a:solidFill>
                <a:latin typeface="Calibri" pitchFamily="34" charset="0"/>
                <a:ea typeface="Calibri" pitchFamily="34" charset="-122"/>
                <a:cs typeface="Calibri" pitchFamily="34" charset="-120"/>
              </a:rPr>
              <a:t>El bloqueo mutuo (deadlock) no es una solución válida.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DEKKER</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4. La evolución: las 5 versiones</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1234440"/>
            <a:ext cx="8046720" cy="320040"/>
          </a:xfrm>
          <a:prstGeom prst="rect">
            <a:avLst/>
          </a:prstGeom>
          <a:noFill/>
          <a:ln/>
        </p:spPr>
        <p:txBody>
          <a:bodyPr wrap="square" lIns="0" tIns="0" rIns="0" bIns="0" rtlCol="0" anchor="ctr"/>
          <a:lstStyle/>
          <a:p>
            <a:pPr marL="0" indent="0">
              <a:buNone/>
            </a:pPr>
            <a:r>
              <a:rPr lang="en-US" sz="1400" dirty="0">
                <a:solidFill>
                  <a:srgbClr val="5B6B7A"/>
                </a:solidFill>
                <a:latin typeface="Calibri" pitchFamily="34" charset="0"/>
                <a:ea typeface="Calibri" pitchFamily="34" charset="-122"/>
                <a:cs typeface="Calibri" pitchFamily="34" charset="-120"/>
              </a:rPr>
              <a:t>Para llegar a la solución final, el algoritmo pasó por 5 etapas de prueba y error:</a:t>
            </a:r>
            <a:endParaRPr lang="en-US" sz="1400" dirty="0"/>
          </a:p>
        </p:txBody>
      </p:sp>
      <p:sp>
        <p:nvSpPr>
          <p:cNvPr id="6" name="Shape 4"/>
          <p:cNvSpPr/>
          <p:nvPr/>
        </p:nvSpPr>
        <p:spPr>
          <a:xfrm>
            <a:off x="548640" y="1645920"/>
            <a:ext cx="3931920" cy="1417320"/>
          </a:xfrm>
          <a:prstGeom prst="roundRect">
            <a:avLst>
              <a:gd name="adj" fmla="val 6452"/>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7" name="Shape 5"/>
          <p:cNvSpPr/>
          <p:nvPr/>
        </p:nvSpPr>
        <p:spPr>
          <a:xfrm>
            <a:off x="731520" y="1828800"/>
            <a:ext cx="411480" cy="411480"/>
          </a:xfrm>
          <a:prstGeom prst="ellipse">
            <a:avLst/>
          </a:prstGeom>
          <a:solidFill>
            <a:srgbClr val="0E7C86"/>
          </a:solidFill>
          <a:ln/>
        </p:spPr>
        <p:txBody>
          <a:bodyPr/>
          <a:lstStyle/>
          <a:p>
            <a:endParaRPr lang="en-US"/>
          </a:p>
        </p:txBody>
      </p:sp>
      <p:sp>
        <p:nvSpPr>
          <p:cNvPr id="8" name="Text 6"/>
          <p:cNvSpPr txBox="1"/>
          <p:nvPr/>
        </p:nvSpPr>
        <p:spPr>
          <a:xfrm>
            <a:off x="731520" y="182880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1280160" y="1783080"/>
            <a:ext cx="3017520" cy="502920"/>
          </a:xfrm>
          <a:prstGeom prst="rect">
            <a:avLst/>
          </a:prstGeom>
          <a:noFill/>
          <a:ln/>
        </p:spPr>
        <p:txBody>
          <a:bodyPr wrap="square" lIns="0" tIns="0" rIns="0" bIns="0" rtlCol="0" anchor="ctr"/>
          <a:lstStyle/>
          <a:p>
            <a:pPr marL="0" indent="0">
              <a:buNone/>
            </a:pPr>
            <a:r>
              <a:rPr lang="en-US" sz="1400" b="1" dirty="0">
                <a:solidFill>
                  <a:srgbClr val="0B1F3A"/>
                </a:solidFill>
                <a:latin typeface="Cambria" pitchFamily="34" charset="0"/>
                <a:ea typeface="Cambria" pitchFamily="34" charset="-122"/>
                <a:cs typeface="Cambria" pitchFamily="34" charset="-120"/>
              </a:rPr>
              <a:t>V1 · Alternancia estricta</a:t>
            </a:r>
            <a:endParaRPr lang="en-US" sz="1400" dirty="0"/>
          </a:p>
        </p:txBody>
      </p:sp>
      <p:sp>
        <p:nvSpPr>
          <p:cNvPr id="10" name="Text 8"/>
          <p:cNvSpPr txBox="1"/>
          <p:nvPr/>
        </p:nvSpPr>
        <p:spPr>
          <a:xfrm>
            <a:off x="777240" y="2331720"/>
            <a:ext cx="3474720" cy="594360"/>
          </a:xfrm>
          <a:prstGeom prst="rect">
            <a:avLst/>
          </a:prstGeom>
          <a:noFill/>
          <a:ln/>
        </p:spPr>
        <p:txBody>
          <a:bodyPr wrap="square" lIns="0" tIns="0" rIns="0" bIns="0" rtlCol="0" anchor="t"/>
          <a:lstStyle/>
          <a:p>
            <a:pPr marL="0" indent="0">
              <a:buNone/>
            </a:pPr>
            <a:r>
              <a:rPr lang="en-US" sz="1150" dirty="0">
                <a:solidFill>
                  <a:srgbClr val="1B2733"/>
                </a:solidFill>
                <a:latin typeface="Calibri" pitchFamily="34" charset="0"/>
                <a:ea typeface="Calibri" pitchFamily="34" charset="-122"/>
                <a:cs typeface="Calibri" pitchFamily="34" charset="-120"/>
              </a:rPr>
              <a:t>Toma de turnos obligatoria. Desventaja: acopla los procesos fuertemente; un proceso lento retrasa a uno rápido.</a:t>
            </a:r>
            <a:endParaRPr lang="en-US" sz="1150" dirty="0"/>
          </a:p>
        </p:txBody>
      </p:sp>
      <p:sp>
        <p:nvSpPr>
          <p:cNvPr id="11" name="Shape 9"/>
          <p:cNvSpPr/>
          <p:nvPr/>
        </p:nvSpPr>
        <p:spPr>
          <a:xfrm>
            <a:off x="4663440" y="1645920"/>
            <a:ext cx="3931920" cy="1417320"/>
          </a:xfrm>
          <a:prstGeom prst="roundRect">
            <a:avLst>
              <a:gd name="adj" fmla="val 6452"/>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2" name="Shape 10"/>
          <p:cNvSpPr/>
          <p:nvPr/>
        </p:nvSpPr>
        <p:spPr>
          <a:xfrm>
            <a:off x="4846320" y="1828800"/>
            <a:ext cx="411480" cy="411480"/>
          </a:xfrm>
          <a:prstGeom prst="ellipse">
            <a:avLst/>
          </a:prstGeom>
          <a:solidFill>
            <a:srgbClr val="0E7C86"/>
          </a:solidFill>
          <a:ln/>
        </p:spPr>
        <p:txBody>
          <a:bodyPr/>
          <a:lstStyle/>
          <a:p>
            <a:endParaRPr lang="en-US"/>
          </a:p>
        </p:txBody>
      </p:sp>
      <p:sp>
        <p:nvSpPr>
          <p:cNvPr id="13" name="Text 11"/>
          <p:cNvSpPr txBox="1"/>
          <p:nvPr/>
        </p:nvSpPr>
        <p:spPr>
          <a:xfrm>
            <a:off x="4846320" y="182880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txBox="1"/>
          <p:nvPr/>
        </p:nvSpPr>
        <p:spPr>
          <a:xfrm>
            <a:off x="5394960" y="1783080"/>
            <a:ext cx="3017520" cy="502920"/>
          </a:xfrm>
          <a:prstGeom prst="rect">
            <a:avLst/>
          </a:prstGeom>
          <a:noFill/>
          <a:ln/>
        </p:spPr>
        <p:txBody>
          <a:bodyPr wrap="square" lIns="0" tIns="0" rIns="0" bIns="0" rtlCol="0" anchor="ctr"/>
          <a:lstStyle/>
          <a:p>
            <a:pPr marL="0" indent="0">
              <a:buNone/>
            </a:pPr>
            <a:r>
              <a:rPr lang="en-US" sz="1400" b="1" dirty="0">
                <a:solidFill>
                  <a:srgbClr val="0B1F3A"/>
                </a:solidFill>
                <a:latin typeface="Cambria" pitchFamily="34" charset="0"/>
                <a:ea typeface="Cambria" pitchFamily="34" charset="-122"/>
                <a:cs typeface="Cambria" pitchFamily="34" charset="-120"/>
              </a:rPr>
              <a:t>V2 · Interbloqueo</a:t>
            </a:r>
            <a:endParaRPr lang="en-US" sz="1400" dirty="0"/>
          </a:p>
        </p:txBody>
      </p:sp>
      <p:sp>
        <p:nvSpPr>
          <p:cNvPr id="15" name="Text 13"/>
          <p:cNvSpPr txBox="1"/>
          <p:nvPr/>
        </p:nvSpPr>
        <p:spPr>
          <a:xfrm>
            <a:off x="4892040" y="2331720"/>
            <a:ext cx="3474720" cy="594360"/>
          </a:xfrm>
          <a:prstGeom prst="rect">
            <a:avLst/>
          </a:prstGeom>
          <a:noFill/>
          <a:ln/>
        </p:spPr>
        <p:txBody>
          <a:bodyPr wrap="square" lIns="0" tIns="0" rIns="0" bIns="0" rtlCol="0" anchor="t"/>
          <a:lstStyle/>
          <a:p>
            <a:pPr marL="0" indent="0">
              <a:buNone/>
            </a:pPr>
            <a:r>
              <a:rPr lang="en-US" sz="1150" dirty="0">
                <a:solidFill>
                  <a:srgbClr val="1B2733"/>
                </a:solidFill>
                <a:latin typeface="Calibri" pitchFamily="34" charset="0"/>
                <a:ea typeface="Calibri" pitchFamily="34" charset="-122"/>
                <a:cs typeface="Calibri" pitchFamily="34" charset="-120"/>
              </a:rPr>
              <a:t>Se usan banderas en lugar de turnos. Desventaja: si ambos levantan su bandera al mismo tiempo, caen en deadlock y nunca entran.</a:t>
            </a:r>
            <a:endParaRPr lang="en-US" sz="1150" dirty="0"/>
          </a:p>
        </p:txBody>
      </p:sp>
      <p:sp>
        <p:nvSpPr>
          <p:cNvPr id="16" name="Shape 14"/>
          <p:cNvSpPr/>
          <p:nvPr/>
        </p:nvSpPr>
        <p:spPr>
          <a:xfrm>
            <a:off x="548640" y="3200400"/>
            <a:ext cx="3931920" cy="1417320"/>
          </a:xfrm>
          <a:prstGeom prst="roundRect">
            <a:avLst>
              <a:gd name="adj" fmla="val 6452"/>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7" name="Shape 15"/>
          <p:cNvSpPr/>
          <p:nvPr/>
        </p:nvSpPr>
        <p:spPr>
          <a:xfrm>
            <a:off x="731520" y="3383280"/>
            <a:ext cx="411480" cy="411480"/>
          </a:xfrm>
          <a:prstGeom prst="ellipse">
            <a:avLst/>
          </a:prstGeom>
          <a:solidFill>
            <a:srgbClr val="0E7C86"/>
          </a:solidFill>
          <a:ln/>
        </p:spPr>
        <p:txBody>
          <a:bodyPr/>
          <a:lstStyle/>
          <a:p>
            <a:endParaRPr lang="en-US"/>
          </a:p>
        </p:txBody>
      </p:sp>
      <p:sp>
        <p:nvSpPr>
          <p:cNvPr id="18" name="Text 16"/>
          <p:cNvSpPr txBox="1"/>
          <p:nvPr/>
        </p:nvSpPr>
        <p:spPr>
          <a:xfrm>
            <a:off x="731520" y="338328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txBox="1"/>
          <p:nvPr/>
        </p:nvSpPr>
        <p:spPr>
          <a:xfrm>
            <a:off x="1280160" y="3337560"/>
            <a:ext cx="3017520" cy="502920"/>
          </a:xfrm>
          <a:prstGeom prst="rect">
            <a:avLst/>
          </a:prstGeom>
          <a:noFill/>
          <a:ln/>
        </p:spPr>
        <p:txBody>
          <a:bodyPr wrap="square" lIns="0" tIns="0" rIns="0" bIns="0" rtlCol="0" anchor="ctr"/>
          <a:lstStyle/>
          <a:p>
            <a:pPr marL="0" indent="0">
              <a:buNone/>
            </a:pPr>
            <a:r>
              <a:rPr lang="en-US" sz="1400" b="1" dirty="0">
                <a:solidFill>
                  <a:srgbClr val="0B1F3A"/>
                </a:solidFill>
                <a:latin typeface="Cambria" pitchFamily="34" charset="0"/>
                <a:ea typeface="Cambria" pitchFamily="34" charset="-122"/>
                <a:cs typeface="Cambria" pitchFamily="34" charset="-120"/>
              </a:rPr>
              <a:t>V3 · Colisión / Inactividad activa</a:t>
            </a:r>
            <a:endParaRPr lang="en-US" sz="1400" dirty="0"/>
          </a:p>
        </p:txBody>
      </p:sp>
      <p:sp>
        <p:nvSpPr>
          <p:cNvPr id="20" name="Text 18"/>
          <p:cNvSpPr txBox="1"/>
          <p:nvPr/>
        </p:nvSpPr>
        <p:spPr>
          <a:xfrm>
            <a:off x="777240" y="3886200"/>
            <a:ext cx="3474720" cy="594360"/>
          </a:xfrm>
          <a:prstGeom prst="rect">
            <a:avLst/>
          </a:prstGeom>
          <a:noFill/>
          <a:ln/>
        </p:spPr>
        <p:txBody>
          <a:bodyPr wrap="square" lIns="0" tIns="0" rIns="0" bIns="0" rtlCol="0" anchor="t"/>
          <a:lstStyle/>
          <a:p>
            <a:pPr marL="0" indent="0">
              <a:buNone/>
            </a:pPr>
            <a:r>
              <a:rPr lang="en-US" sz="1150" dirty="0">
                <a:solidFill>
                  <a:srgbClr val="1B2733"/>
                </a:solidFill>
                <a:latin typeface="Calibri" pitchFamily="34" charset="0"/>
                <a:ea typeface="Calibri" pitchFamily="34" charset="-122"/>
                <a:cs typeface="Calibri" pitchFamily="34" charset="-120"/>
              </a:rPr>
              <a:t>Intenta arreglar el interbloqueo bajando y subiendo banderas. Desventaja: no garantiza la exclusión mutua de forma eficiente o genera livelock (ciclo infinito de cederse el paso).</a:t>
            </a:r>
            <a:endParaRPr lang="en-US" sz="1150" dirty="0"/>
          </a:p>
        </p:txBody>
      </p:sp>
      <p:sp>
        <p:nvSpPr>
          <p:cNvPr id="21" name="Shape 19"/>
          <p:cNvSpPr/>
          <p:nvPr/>
        </p:nvSpPr>
        <p:spPr>
          <a:xfrm>
            <a:off x="4663440" y="3200400"/>
            <a:ext cx="3931920" cy="1417320"/>
          </a:xfrm>
          <a:prstGeom prst="roundRect">
            <a:avLst>
              <a:gd name="adj" fmla="val 6452"/>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22" name="Shape 20"/>
          <p:cNvSpPr/>
          <p:nvPr/>
        </p:nvSpPr>
        <p:spPr>
          <a:xfrm>
            <a:off x="4846320" y="3383280"/>
            <a:ext cx="411480" cy="411480"/>
          </a:xfrm>
          <a:prstGeom prst="ellipse">
            <a:avLst/>
          </a:prstGeom>
          <a:solidFill>
            <a:srgbClr val="0E7C86"/>
          </a:solidFill>
          <a:ln/>
        </p:spPr>
        <p:txBody>
          <a:bodyPr/>
          <a:lstStyle/>
          <a:p>
            <a:endParaRPr lang="en-US"/>
          </a:p>
        </p:txBody>
      </p:sp>
      <p:sp>
        <p:nvSpPr>
          <p:cNvPr id="23" name="Text 21"/>
          <p:cNvSpPr txBox="1"/>
          <p:nvPr/>
        </p:nvSpPr>
        <p:spPr>
          <a:xfrm>
            <a:off x="4846320" y="338328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4" name="Text 22"/>
          <p:cNvSpPr txBox="1"/>
          <p:nvPr/>
        </p:nvSpPr>
        <p:spPr>
          <a:xfrm>
            <a:off x="5394960" y="3337560"/>
            <a:ext cx="3017520" cy="502920"/>
          </a:xfrm>
          <a:prstGeom prst="rect">
            <a:avLst/>
          </a:prstGeom>
          <a:noFill/>
          <a:ln/>
        </p:spPr>
        <p:txBody>
          <a:bodyPr wrap="square" lIns="0" tIns="0" rIns="0" bIns="0" rtlCol="0" anchor="ctr"/>
          <a:lstStyle/>
          <a:p>
            <a:pPr marL="0" indent="0">
              <a:buNone/>
            </a:pPr>
            <a:r>
              <a:rPr lang="en-US" sz="1400" b="1" dirty="0">
                <a:solidFill>
                  <a:srgbClr val="0B1F3A"/>
                </a:solidFill>
                <a:latin typeface="Cambria" pitchFamily="34" charset="0"/>
                <a:ea typeface="Cambria" pitchFamily="34" charset="-122"/>
                <a:cs typeface="Cambria" pitchFamily="34" charset="-120"/>
              </a:rPr>
              <a:t>V4 · Postergación indefinida</a:t>
            </a:r>
            <a:endParaRPr lang="en-US" sz="1400" dirty="0"/>
          </a:p>
        </p:txBody>
      </p:sp>
      <p:sp>
        <p:nvSpPr>
          <p:cNvPr id="25" name="Text 23"/>
          <p:cNvSpPr txBox="1"/>
          <p:nvPr/>
        </p:nvSpPr>
        <p:spPr>
          <a:xfrm>
            <a:off x="4892040" y="3886200"/>
            <a:ext cx="3474720" cy="594360"/>
          </a:xfrm>
          <a:prstGeom prst="rect">
            <a:avLst/>
          </a:prstGeom>
          <a:noFill/>
          <a:ln/>
        </p:spPr>
        <p:txBody>
          <a:bodyPr wrap="square" lIns="0" tIns="0" rIns="0" bIns="0" rtlCol="0" anchor="t"/>
          <a:lstStyle/>
          <a:p>
            <a:pPr marL="0" indent="0">
              <a:buNone/>
            </a:pPr>
            <a:r>
              <a:rPr lang="en-US" sz="1150" dirty="0">
                <a:solidFill>
                  <a:srgbClr val="1B2733"/>
                </a:solidFill>
                <a:latin typeface="Calibri" pitchFamily="34" charset="0"/>
                <a:ea typeface="Calibri" pitchFamily="34" charset="-122"/>
                <a:cs typeface="Calibri" pitchFamily="34" charset="-120"/>
              </a:rPr>
              <a:t>Se añaden retrasos. Desventaja: un proceso puede esperar un evento que tal vez nunca suceda, rompiendo la "espera acotada".</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DEKKER</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5. La solución definitiva</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48640" y="1371600"/>
            <a:ext cx="2926080" cy="3108960"/>
          </a:xfrm>
          <a:prstGeom prst="roundRect">
            <a:avLst>
              <a:gd name="adj" fmla="val 3125"/>
            </a:avLst>
          </a:prstGeom>
          <a:solidFill>
            <a:srgbClr val="0E7C86"/>
          </a:solidFill>
          <a:ln/>
        </p:spPr>
        <p:txBody>
          <a:bodyPr/>
          <a:lstStyle/>
          <a:p>
            <a:endParaRPr lang="en-US"/>
          </a:p>
        </p:txBody>
      </p:sp>
      <p:sp>
        <p:nvSpPr>
          <p:cNvPr id="6" name="Text 4"/>
          <p:cNvSpPr txBox="1"/>
          <p:nvPr/>
        </p:nvSpPr>
        <p:spPr>
          <a:xfrm>
            <a:off x="548640" y="1645920"/>
            <a:ext cx="2926080" cy="1188720"/>
          </a:xfrm>
          <a:prstGeom prst="rect">
            <a:avLst/>
          </a:prstGeom>
          <a:noFill/>
          <a:ln/>
        </p:spPr>
        <p:txBody>
          <a:bodyPr wrap="square" lIns="0" tIns="0" rIns="0" bIns="0" rtlCol="0" anchor="ctr"/>
          <a:lstStyle/>
          <a:p>
            <a:pPr marL="0" indent="0" algn="ctr">
              <a:buNone/>
            </a:pPr>
            <a:r>
              <a:rPr lang="en-US" sz="7200" b="1" dirty="0">
                <a:solidFill>
                  <a:srgbClr val="FFFFFF"/>
                </a:solidFill>
                <a:latin typeface="Cambria" pitchFamily="34" charset="0"/>
                <a:ea typeface="Cambria" pitchFamily="34" charset="-122"/>
                <a:cs typeface="Cambria" pitchFamily="34" charset="-120"/>
              </a:rPr>
              <a:t>V5</a:t>
            </a:r>
            <a:endParaRPr lang="en-US" sz="7200" dirty="0"/>
          </a:p>
        </p:txBody>
      </p:sp>
      <p:sp>
        <p:nvSpPr>
          <p:cNvPr id="7" name="Text 5"/>
          <p:cNvSpPr txBox="1"/>
          <p:nvPr/>
        </p:nvSpPr>
        <p:spPr>
          <a:xfrm>
            <a:off x="731520" y="3017520"/>
            <a:ext cx="2560320" cy="914400"/>
          </a:xfrm>
          <a:prstGeom prst="rect">
            <a:avLst/>
          </a:prstGeom>
          <a:noFill/>
          <a:ln/>
        </p:spPr>
        <p:txBody>
          <a:bodyPr wrap="square" lIns="0" tIns="0" rIns="0" bIns="0" rtlCol="0" anchor="ctr"/>
          <a:lstStyle/>
          <a:p>
            <a:pPr marL="0" indent="0" algn="ctr">
              <a:buNone/>
            </a:pPr>
            <a:r>
              <a:rPr lang="en-US" sz="2000" dirty="0">
                <a:solidFill>
                  <a:srgbClr val="FFFFFF"/>
                </a:solidFill>
                <a:latin typeface="Cambria" pitchFamily="34" charset="0"/>
                <a:ea typeface="Cambria" pitchFamily="34" charset="-122"/>
                <a:cs typeface="Cambria" pitchFamily="34" charset="-120"/>
              </a:rPr>
              <a:t>El Algoritmo de Dekker final</a:t>
            </a:r>
            <a:endParaRPr lang="en-US" sz="2000" dirty="0"/>
          </a:p>
        </p:txBody>
      </p:sp>
      <p:sp>
        <p:nvSpPr>
          <p:cNvPr id="8" name="Shape 6"/>
          <p:cNvSpPr/>
          <p:nvPr/>
        </p:nvSpPr>
        <p:spPr>
          <a:xfrm>
            <a:off x="3657600" y="1375993"/>
            <a:ext cx="4937760" cy="1062990"/>
          </a:xfrm>
          <a:prstGeom prst="roundRect">
            <a:avLst>
              <a:gd name="adj" fmla="val 6452"/>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9" name="Text 7"/>
          <p:cNvSpPr txBox="1"/>
          <p:nvPr/>
        </p:nvSpPr>
        <p:spPr>
          <a:xfrm>
            <a:off x="3840480" y="1375993"/>
            <a:ext cx="4572000" cy="50292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¿Cómo lo logra?</a:t>
            </a:r>
            <a:endParaRPr lang="en-US" sz="1600" dirty="0"/>
          </a:p>
        </p:txBody>
      </p:sp>
      <p:sp>
        <p:nvSpPr>
          <p:cNvPr id="10" name="Text 8"/>
          <p:cNvSpPr txBox="1"/>
          <p:nvPr/>
        </p:nvSpPr>
        <p:spPr>
          <a:xfrm>
            <a:off x="3886200" y="1924633"/>
            <a:ext cx="4480560" cy="594360"/>
          </a:xfrm>
          <a:prstGeom prst="rect">
            <a:avLst/>
          </a:prstGeom>
          <a:noFill/>
          <a:ln/>
        </p:spPr>
        <p:txBody>
          <a:bodyPr wrap="square" lIns="0" tIns="0" rIns="0" bIns="0" rtlCol="0" anchor="t"/>
          <a:lstStyle/>
          <a:p>
            <a:pPr marL="0" indent="0">
              <a:buNone/>
            </a:pPr>
            <a:r>
              <a:rPr lang="en-US" sz="1300" dirty="0">
                <a:solidFill>
                  <a:srgbClr val="1B2733"/>
                </a:solidFill>
                <a:latin typeface="Calibri" pitchFamily="34" charset="0"/>
                <a:ea typeface="Calibri" pitchFamily="34" charset="-122"/>
                <a:cs typeface="Calibri" pitchFamily="34" charset="-120"/>
              </a:rPr>
              <a:t>Combina de forma inteligente la variable de turno (de la Versión 1) con las banderas de intención (de las versiones posteriores).</a:t>
            </a:r>
            <a:endParaRPr lang="en-US" sz="1300" dirty="0"/>
          </a:p>
        </p:txBody>
      </p:sp>
      <p:sp>
        <p:nvSpPr>
          <p:cNvPr id="11" name="Shape 9"/>
          <p:cNvSpPr/>
          <p:nvPr/>
        </p:nvSpPr>
        <p:spPr>
          <a:xfrm>
            <a:off x="3657600" y="2528662"/>
            <a:ext cx="4937760" cy="1951897"/>
          </a:xfrm>
          <a:prstGeom prst="roundRect">
            <a:avLst>
              <a:gd name="adj" fmla="val 6061"/>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2" name="Text 10"/>
          <p:cNvSpPr txBox="1"/>
          <p:nvPr/>
        </p:nvSpPr>
        <p:spPr>
          <a:xfrm>
            <a:off x="3840480" y="2665823"/>
            <a:ext cx="4572000" cy="50292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Funcionamiento</a:t>
            </a:r>
            <a:endParaRPr lang="en-US" sz="1600" dirty="0"/>
          </a:p>
        </p:txBody>
      </p:sp>
      <p:sp>
        <p:nvSpPr>
          <p:cNvPr id="13" name="Text 11"/>
          <p:cNvSpPr txBox="1"/>
          <p:nvPr/>
        </p:nvSpPr>
        <p:spPr>
          <a:xfrm>
            <a:off x="3840480" y="3080825"/>
            <a:ext cx="4480560" cy="685800"/>
          </a:xfrm>
          <a:prstGeom prst="rect">
            <a:avLst/>
          </a:prstGeom>
          <a:noFill/>
          <a:ln/>
        </p:spPr>
        <p:txBody>
          <a:bodyPr wrap="square" lIns="0" tIns="0" rIns="0" bIns="0" rtlCol="0" anchor="t"/>
          <a:lstStyle/>
          <a:p>
            <a:pPr marL="0" indent="0">
              <a:buNone/>
            </a:pPr>
            <a:r>
              <a:rPr lang="es-ES" sz="1250" dirty="0">
                <a:solidFill>
                  <a:srgbClr val="1B2733"/>
                </a:solidFill>
                <a:latin typeface="Calibri" pitchFamily="34" charset="0"/>
                <a:ea typeface="Calibri" pitchFamily="34" charset="-122"/>
                <a:cs typeface="Calibri" pitchFamily="34" charset="-120"/>
              </a:rPr>
              <a:t>Si ambos procesos intentan acceder a la sección crítica simultáneamente (ambas banderas están arriba), el algoritmo verifica la variable de turno para desempatar. El proceso que no tiene el turno baja su bandera y espera pasivamente, permitiendo que el proceso "ganador" ejecute su tarea sin conflictos. Al terminar, el ganador cede el turno.</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DEKKER</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Dekker: ejemplo en código</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9</a:t>
            </a:r>
            <a:endParaRPr lang="en-US" sz="1000" dirty="0"/>
          </a:p>
        </p:txBody>
      </p:sp>
      <p:pic>
        <p:nvPicPr>
          <p:cNvPr id="10" name="Imagen 9">
            <a:extLst>
              <a:ext uri="{FF2B5EF4-FFF2-40B4-BE49-F238E27FC236}">
                <a16:creationId xmlns:a16="http://schemas.microsoft.com/office/drawing/2014/main" id="{260E8EB7-AAF6-9564-C23D-41B31C6AD22C}"/>
              </a:ext>
            </a:extLst>
          </p:cNvPr>
          <p:cNvPicPr>
            <a:picLocks noChangeAspect="1"/>
          </p:cNvPicPr>
          <p:nvPr/>
        </p:nvPicPr>
        <p:blipFill>
          <a:blip r:embed="rId3"/>
          <a:stretch>
            <a:fillRect/>
          </a:stretch>
        </p:blipFill>
        <p:spPr>
          <a:xfrm>
            <a:off x="105136" y="1188720"/>
            <a:ext cx="8874082" cy="3794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85587-EF5F-7692-DD66-5ED443F1B74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7B211F3-5C37-28EA-C61C-39540DDE4621}"/>
              </a:ext>
            </a:extLst>
          </p:cNvPr>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DEKKER</a:t>
            </a:r>
            <a:endParaRPr lang="en-US" sz="1100" dirty="0"/>
          </a:p>
        </p:txBody>
      </p:sp>
      <p:sp>
        <p:nvSpPr>
          <p:cNvPr id="4" name="Text 2">
            <a:extLst>
              <a:ext uri="{FF2B5EF4-FFF2-40B4-BE49-F238E27FC236}">
                <a16:creationId xmlns:a16="http://schemas.microsoft.com/office/drawing/2014/main" id="{04C72834-9295-497E-55E3-AB1FF6046A4E}"/>
              </a:ext>
            </a:extLst>
          </p:cNvPr>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9</a:t>
            </a:r>
            <a:endParaRPr lang="en-US" sz="1000" dirty="0"/>
          </a:p>
        </p:txBody>
      </p:sp>
      <p:pic>
        <p:nvPicPr>
          <p:cNvPr id="5" name="Imagen 4">
            <a:extLst>
              <a:ext uri="{FF2B5EF4-FFF2-40B4-BE49-F238E27FC236}">
                <a16:creationId xmlns:a16="http://schemas.microsoft.com/office/drawing/2014/main" id="{E0B32266-2D02-9813-BA1E-B04C44B93EE5}"/>
              </a:ext>
            </a:extLst>
          </p:cNvPr>
          <p:cNvPicPr>
            <a:picLocks noChangeAspect="1"/>
          </p:cNvPicPr>
          <p:nvPr/>
        </p:nvPicPr>
        <p:blipFill>
          <a:blip r:embed="rId3"/>
          <a:stretch>
            <a:fillRect/>
          </a:stretch>
        </p:blipFill>
        <p:spPr>
          <a:xfrm>
            <a:off x="1434905" y="160020"/>
            <a:ext cx="7241912" cy="4846885"/>
          </a:xfrm>
          <a:prstGeom prst="rect">
            <a:avLst/>
          </a:prstGeom>
        </p:spPr>
      </p:pic>
    </p:spTree>
    <p:extLst>
      <p:ext uri="{BB962C8B-B14F-4D97-AF65-F5344CB8AC3E}">
        <p14:creationId xmlns:p14="http://schemas.microsoft.com/office/powerpoint/2010/main" val="751809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8CE90-E036-55F2-3A6E-D0E840AEE1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59054DB-4FDB-EF0D-F2BA-FD92CB28035D}"/>
              </a:ext>
            </a:extLst>
          </p:cNvPr>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DEKKER</a:t>
            </a:r>
            <a:endParaRPr lang="en-US" sz="1100" dirty="0"/>
          </a:p>
        </p:txBody>
      </p:sp>
      <p:sp>
        <p:nvSpPr>
          <p:cNvPr id="4" name="Text 2">
            <a:extLst>
              <a:ext uri="{FF2B5EF4-FFF2-40B4-BE49-F238E27FC236}">
                <a16:creationId xmlns:a16="http://schemas.microsoft.com/office/drawing/2014/main" id="{FC2A0163-340F-BA13-4697-76731BCE5889}"/>
              </a:ext>
            </a:extLst>
          </p:cNvPr>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9</a:t>
            </a:r>
            <a:endParaRPr lang="en-US" sz="1000" dirty="0"/>
          </a:p>
        </p:txBody>
      </p:sp>
      <p:pic>
        <p:nvPicPr>
          <p:cNvPr id="6" name="Imagen 5">
            <a:extLst>
              <a:ext uri="{FF2B5EF4-FFF2-40B4-BE49-F238E27FC236}">
                <a16:creationId xmlns:a16="http://schemas.microsoft.com/office/drawing/2014/main" id="{53071C88-71A9-ADCD-E084-F394C107FE5C}"/>
              </a:ext>
            </a:extLst>
          </p:cNvPr>
          <p:cNvPicPr>
            <a:picLocks noChangeAspect="1"/>
          </p:cNvPicPr>
          <p:nvPr/>
        </p:nvPicPr>
        <p:blipFill>
          <a:blip r:embed="rId3"/>
          <a:stretch>
            <a:fillRect/>
          </a:stretch>
        </p:blipFill>
        <p:spPr>
          <a:xfrm>
            <a:off x="517484" y="160020"/>
            <a:ext cx="8109032" cy="4974690"/>
          </a:xfrm>
          <a:prstGeom prst="rect">
            <a:avLst/>
          </a:prstGeom>
        </p:spPr>
      </p:pic>
    </p:spTree>
    <p:extLst>
      <p:ext uri="{BB962C8B-B14F-4D97-AF65-F5344CB8AC3E}">
        <p14:creationId xmlns:p14="http://schemas.microsoft.com/office/powerpoint/2010/main" val="3188652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6583680" y="822960"/>
            <a:ext cx="2926080" cy="2926080"/>
          </a:xfrm>
          <a:prstGeom prst="ellipse">
            <a:avLst/>
          </a:prstGeom>
          <a:solidFill>
            <a:srgbClr val="0E7C86"/>
          </a:solidFill>
          <a:ln/>
        </p:spPr>
        <p:txBody>
          <a:bodyPr/>
          <a:lstStyle/>
          <a:p>
            <a:endParaRPr lang="en-US"/>
          </a:p>
        </p:txBody>
      </p:sp>
      <p:sp>
        <p:nvSpPr>
          <p:cNvPr id="3" name="Text 1"/>
          <p:cNvSpPr txBox="1"/>
          <p:nvPr/>
        </p:nvSpPr>
        <p:spPr>
          <a:xfrm>
            <a:off x="731520" y="1554480"/>
            <a:ext cx="5486400" cy="365760"/>
          </a:xfrm>
          <a:prstGeom prst="rect">
            <a:avLst/>
          </a:prstGeom>
          <a:noFill/>
          <a:ln/>
        </p:spPr>
        <p:txBody>
          <a:bodyPr wrap="square" lIns="0" tIns="0" rIns="0" bIns="0" rtlCol="0" anchor="ctr"/>
          <a:lstStyle/>
          <a:p>
            <a:pPr marL="0" indent="0">
              <a:buNone/>
            </a:pPr>
            <a:r>
              <a:rPr lang="en-US" sz="1400" b="1" kern="0" spc="400" dirty="0">
                <a:solidFill>
                  <a:srgbClr val="E8A33D"/>
                </a:solidFill>
                <a:latin typeface="Calibri" pitchFamily="34" charset="0"/>
                <a:ea typeface="Calibri" pitchFamily="34" charset="-122"/>
                <a:cs typeface="Calibri" pitchFamily="34" charset="-120"/>
              </a:rPr>
              <a:t>PARTE 2</a:t>
            </a:r>
            <a:endParaRPr lang="en-US" sz="1400" dirty="0"/>
          </a:p>
        </p:txBody>
      </p:sp>
      <p:sp>
        <p:nvSpPr>
          <p:cNvPr id="4" name="Text 2"/>
          <p:cNvSpPr txBox="1"/>
          <p:nvPr/>
        </p:nvSpPr>
        <p:spPr>
          <a:xfrm>
            <a:off x="731520" y="2011680"/>
            <a:ext cx="6400800" cy="10972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Algoritmo Peterson</a:t>
            </a:r>
            <a:endParaRPr lang="en-US" sz="4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PETERSON</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¿Qué es el algoritmo de Peterson?</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1280160"/>
            <a:ext cx="8046720" cy="1005840"/>
          </a:xfrm>
          <a:prstGeom prst="rect">
            <a:avLst/>
          </a:prstGeom>
          <a:noFill/>
          <a:ln/>
        </p:spPr>
        <p:txBody>
          <a:bodyPr wrap="square" lIns="0" tIns="0" rIns="0" bIns="0" rtlCol="0" anchor="ctr"/>
          <a:lstStyle/>
          <a:p>
            <a:r>
              <a:rPr lang="en-US" sz="1400" dirty="0">
                <a:solidFill>
                  <a:srgbClr val="1B2733"/>
                </a:solidFill>
                <a:latin typeface="Calibri" pitchFamily="34" charset="0"/>
                <a:ea typeface="Calibri" pitchFamily="34" charset="-122"/>
                <a:cs typeface="Calibri" pitchFamily="34" charset="-120"/>
              </a:rPr>
              <a:t>Algoritmo de coordinación entre procesos para garantizar la exclusión mutua: que no accedan a una sección crítica (recursos compartidos) al mismo tiempo. Evita condiciones de carrera, es decir, que un proceso use información desactualizada porque el otro modificó los datos al </a:t>
            </a:r>
            <a:r>
              <a:rPr lang="en-US" sz="1400" dirty="0" err="1">
                <a:solidFill>
                  <a:srgbClr val="1B2733"/>
                </a:solidFill>
                <a:latin typeface="Calibri" pitchFamily="34" charset="0"/>
                <a:ea typeface="Calibri" pitchFamily="34" charset="-122"/>
                <a:cs typeface="Calibri" pitchFamily="34" charset="-120"/>
              </a:rPr>
              <a:t>mismo</a:t>
            </a:r>
            <a:r>
              <a:rPr lang="en-US" sz="1400" dirty="0">
                <a:solidFill>
                  <a:srgbClr val="1B2733"/>
                </a:solidFill>
                <a:latin typeface="Calibri" pitchFamily="34" charset="0"/>
                <a:ea typeface="Calibri" pitchFamily="34" charset="-122"/>
                <a:cs typeface="Calibri" pitchFamily="34" charset="-120"/>
              </a:rPr>
              <a:t> </a:t>
            </a:r>
            <a:r>
              <a:rPr lang="en-US" sz="1400" dirty="0" err="1">
                <a:solidFill>
                  <a:srgbClr val="1B2733"/>
                </a:solidFill>
                <a:latin typeface="Calibri" pitchFamily="34" charset="0"/>
                <a:ea typeface="Calibri" pitchFamily="34" charset="-122"/>
                <a:cs typeface="Calibri" pitchFamily="34" charset="-120"/>
              </a:rPr>
              <a:t>tiempo</a:t>
            </a:r>
            <a:r>
              <a:rPr lang="en-US" sz="1400" dirty="0">
                <a:solidFill>
                  <a:srgbClr val="1B2733"/>
                </a:solidFill>
                <a:latin typeface="Calibri" pitchFamily="34" charset="0"/>
                <a:ea typeface="Calibri" pitchFamily="34" charset="-122"/>
                <a:cs typeface="Calibri" pitchFamily="34" charset="-120"/>
              </a:rPr>
              <a:t>, </a:t>
            </a:r>
            <a:r>
              <a:rPr lang="en-US" sz="1400" dirty="0" err="1">
                <a:solidFill>
                  <a:srgbClr val="1B2733"/>
                </a:solidFill>
                <a:latin typeface="Calibri" pitchFamily="34" charset="0"/>
                <a:ea typeface="Calibri" pitchFamily="34" charset="-122"/>
                <a:cs typeface="Calibri" pitchFamily="34" charset="-120"/>
              </a:rPr>
              <a:t>dejando</a:t>
            </a:r>
            <a:r>
              <a:rPr lang="en-US" sz="1400" dirty="0">
                <a:solidFill>
                  <a:srgbClr val="1B2733"/>
                </a:solidFill>
                <a:latin typeface="Calibri" pitchFamily="34" charset="0"/>
                <a:ea typeface="Calibri" pitchFamily="34" charset="-122"/>
                <a:cs typeface="Calibri" pitchFamily="34" charset="-120"/>
              </a:rPr>
              <a:t> con </a:t>
            </a:r>
            <a:r>
              <a:rPr lang="en-US" sz="1400" dirty="0" err="1">
                <a:solidFill>
                  <a:srgbClr val="1B2733"/>
                </a:solidFill>
                <a:latin typeface="Calibri" pitchFamily="34" charset="0"/>
                <a:ea typeface="Calibri" pitchFamily="34" charset="-122"/>
                <a:cs typeface="Calibri" pitchFamily="34" charset="-120"/>
              </a:rPr>
              <a:t>información</a:t>
            </a:r>
            <a:r>
              <a:rPr lang="en-US" sz="1400" dirty="0">
                <a:solidFill>
                  <a:srgbClr val="1B2733"/>
                </a:solidFill>
                <a:latin typeface="Calibri" pitchFamily="34" charset="0"/>
                <a:ea typeface="Calibri" pitchFamily="34" charset="-122"/>
                <a:cs typeface="Calibri" pitchFamily="34" charset="-120"/>
              </a:rPr>
              <a:t> </a:t>
            </a:r>
            <a:r>
              <a:rPr lang="en-US" sz="1400" dirty="0" err="1">
                <a:solidFill>
                  <a:srgbClr val="1B2733"/>
                </a:solidFill>
                <a:latin typeface="Calibri" pitchFamily="34" charset="0"/>
                <a:ea typeface="Calibri" pitchFamily="34" charset="-122"/>
                <a:cs typeface="Calibri" pitchFamily="34" charset="-120"/>
              </a:rPr>
              <a:t>errónea</a:t>
            </a:r>
            <a:r>
              <a:rPr lang="en-US" sz="1400" dirty="0">
                <a:solidFill>
                  <a:srgbClr val="1B2733"/>
                </a:solidFill>
                <a:latin typeface="Calibri" pitchFamily="34" charset="0"/>
                <a:ea typeface="Calibri" pitchFamily="34" charset="-122"/>
                <a:cs typeface="Calibri" pitchFamily="34" charset="-120"/>
              </a:rPr>
              <a:t> al </a:t>
            </a:r>
            <a:r>
              <a:rPr lang="en-US" sz="1400" dirty="0" err="1">
                <a:solidFill>
                  <a:srgbClr val="1B2733"/>
                </a:solidFill>
                <a:latin typeface="Calibri" pitchFamily="34" charset="0"/>
                <a:ea typeface="Calibri" pitchFamily="34" charset="-122"/>
                <a:cs typeface="Calibri" pitchFamily="34" charset="-120"/>
              </a:rPr>
              <a:t>otro</a:t>
            </a:r>
            <a:r>
              <a:rPr lang="en-US" sz="1400" dirty="0">
                <a:solidFill>
                  <a:srgbClr val="1B2733"/>
                </a:solidFill>
                <a:latin typeface="Calibri" pitchFamily="34" charset="0"/>
                <a:ea typeface="Calibri" pitchFamily="34" charset="-122"/>
                <a:cs typeface="Calibri" pitchFamily="34" charset="-120"/>
              </a:rPr>
              <a:t> </a:t>
            </a:r>
            <a:r>
              <a:rPr lang="en-US" sz="1400" dirty="0" err="1">
                <a:solidFill>
                  <a:srgbClr val="1B2733"/>
                </a:solidFill>
                <a:latin typeface="Calibri" pitchFamily="34" charset="0"/>
                <a:ea typeface="Calibri" pitchFamily="34" charset="-122"/>
                <a:cs typeface="Calibri" pitchFamily="34" charset="-120"/>
              </a:rPr>
              <a:t>proceso</a:t>
            </a:r>
            <a:r>
              <a:rPr lang="en-US" sz="1400" dirty="0">
                <a:solidFill>
                  <a:srgbClr val="1B2733"/>
                </a:solidFill>
                <a:latin typeface="Calibri" pitchFamily="34" charset="0"/>
                <a:ea typeface="Calibri" pitchFamily="34" charset="-122"/>
                <a:cs typeface="Calibri" pitchFamily="34" charset="-120"/>
              </a:rPr>
              <a:t>. Se </a:t>
            </a:r>
            <a:r>
              <a:rPr lang="en-US" sz="1400" dirty="0" err="1">
                <a:solidFill>
                  <a:srgbClr val="1B2733"/>
                </a:solidFill>
                <a:latin typeface="Calibri" pitchFamily="34" charset="0"/>
                <a:ea typeface="Calibri" pitchFamily="34" charset="-122"/>
                <a:cs typeface="Calibri" pitchFamily="34" charset="-120"/>
              </a:rPr>
              <a:t>basa</a:t>
            </a:r>
            <a:r>
              <a:rPr lang="en-US" sz="1400" dirty="0">
                <a:solidFill>
                  <a:srgbClr val="1B2733"/>
                </a:solidFill>
                <a:latin typeface="Calibri" pitchFamily="34" charset="0"/>
                <a:ea typeface="Calibri" pitchFamily="34" charset="-122"/>
                <a:cs typeface="Calibri" pitchFamily="34" charset="-120"/>
              </a:rPr>
              <a:t> </a:t>
            </a:r>
            <a:r>
              <a:rPr lang="en-US" sz="1400" dirty="0" err="1">
                <a:solidFill>
                  <a:srgbClr val="1B2733"/>
                </a:solidFill>
                <a:latin typeface="Calibri" pitchFamily="34" charset="0"/>
                <a:ea typeface="Calibri" pitchFamily="34" charset="-122"/>
                <a:cs typeface="Calibri" pitchFamily="34" charset="-120"/>
              </a:rPr>
              <a:t>en</a:t>
            </a:r>
            <a:r>
              <a:rPr lang="en-US" sz="1400" dirty="0">
                <a:solidFill>
                  <a:srgbClr val="1B2733"/>
                </a:solidFill>
                <a:latin typeface="Calibri" pitchFamily="34" charset="0"/>
                <a:ea typeface="Calibri" pitchFamily="34" charset="-122"/>
                <a:cs typeface="Calibri" pitchFamily="34" charset="-120"/>
              </a:rPr>
              <a:t> 3 </a:t>
            </a:r>
            <a:r>
              <a:rPr lang="en-US" sz="1400" dirty="0" err="1">
                <a:solidFill>
                  <a:srgbClr val="1B2733"/>
                </a:solidFill>
                <a:latin typeface="Calibri" pitchFamily="34" charset="0"/>
                <a:ea typeface="Calibri" pitchFamily="34" charset="-122"/>
                <a:cs typeface="Calibri" pitchFamily="34" charset="-120"/>
              </a:rPr>
              <a:t>principios</a:t>
            </a:r>
            <a:r>
              <a:rPr lang="en-US" sz="1400" dirty="0">
                <a:solidFill>
                  <a:srgbClr val="1B2733"/>
                </a:solidFill>
                <a:latin typeface="Calibri" pitchFamily="34" charset="0"/>
                <a:ea typeface="Calibri" pitchFamily="34" charset="-122"/>
                <a:cs typeface="Calibri" pitchFamily="34" charset="-120"/>
              </a:rPr>
              <a:t>:</a:t>
            </a:r>
          </a:p>
        </p:txBody>
      </p:sp>
      <p:sp>
        <p:nvSpPr>
          <p:cNvPr id="6" name="Shape 4"/>
          <p:cNvSpPr/>
          <p:nvPr/>
        </p:nvSpPr>
        <p:spPr>
          <a:xfrm>
            <a:off x="548640" y="2423160"/>
            <a:ext cx="2560320" cy="2148840"/>
          </a:xfrm>
          <a:prstGeom prst="roundRect">
            <a:avLst>
              <a:gd name="adj" fmla="val 4255"/>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7" name="Shape 5"/>
          <p:cNvSpPr/>
          <p:nvPr/>
        </p:nvSpPr>
        <p:spPr>
          <a:xfrm>
            <a:off x="731520" y="2606040"/>
            <a:ext cx="411480" cy="411480"/>
          </a:xfrm>
          <a:prstGeom prst="ellipse">
            <a:avLst/>
          </a:prstGeom>
          <a:solidFill>
            <a:srgbClr val="0E7C86"/>
          </a:solidFill>
          <a:ln/>
        </p:spPr>
        <p:txBody>
          <a:bodyPr/>
          <a:lstStyle/>
          <a:p>
            <a:endParaRPr lang="en-US"/>
          </a:p>
        </p:txBody>
      </p:sp>
      <p:sp>
        <p:nvSpPr>
          <p:cNvPr id="8" name="Text 6"/>
          <p:cNvSpPr txBox="1"/>
          <p:nvPr/>
        </p:nvSpPr>
        <p:spPr>
          <a:xfrm>
            <a:off x="731520" y="260604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1280160" y="2560320"/>
            <a:ext cx="164592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Exclusión mutua</a:t>
            </a:r>
            <a:endParaRPr lang="en-US" sz="1500" dirty="0"/>
          </a:p>
        </p:txBody>
      </p:sp>
      <p:sp>
        <p:nvSpPr>
          <p:cNvPr id="10" name="Text 8"/>
          <p:cNvSpPr txBox="1"/>
          <p:nvPr/>
        </p:nvSpPr>
        <p:spPr>
          <a:xfrm>
            <a:off x="777240" y="3108960"/>
            <a:ext cx="2103120" cy="1325880"/>
          </a:xfrm>
          <a:prstGeom prst="rect">
            <a:avLst/>
          </a:prstGeom>
          <a:noFill/>
          <a:ln/>
        </p:spPr>
        <p:txBody>
          <a:bodyPr wrap="square" lIns="0" tIns="0" rIns="0" bIns="0" rtlCol="0" anchor="t"/>
          <a:lstStyle/>
          <a:p>
            <a:pPr marL="0" indent="0">
              <a:buNone/>
            </a:pPr>
            <a:r>
              <a:rPr lang="en-US" sz="1250" dirty="0">
                <a:solidFill>
                  <a:srgbClr val="1B2733"/>
                </a:solidFill>
                <a:latin typeface="Calibri" pitchFamily="34" charset="0"/>
                <a:ea typeface="Calibri" pitchFamily="34" charset="-122"/>
                <a:cs typeface="Calibri" pitchFamily="34" charset="-120"/>
              </a:rPr>
              <a:t>Si un proceso está en una sección crítica, ningún otro puede estarlo de manera simultánea.</a:t>
            </a:r>
            <a:endParaRPr lang="en-US" sz="1250" dirty="0"/>
          </a:p>
        </p:txBody>
      </p:sp>
      <p:sp>
        <p:nvSpPr>
          <p:cNvPr id="11" name="Shape 9"/>
          <p:cNvSpPr/>
          <p:nvPr/>
        </p:nvSpPr>
        <p:spPr>
          <a:xfrm>
            <a:off x="3291840" y="2423160"/>
            <a:ext cx="2560320" cy="2148840"/>
          </a:xfrm>
          <a:prstGeom prst="roundRect">
            <a:avLst>
              <a:gd name="adj" fmla="val 4255"/>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2" name="Shape 10"/>
          <p:cNvSpPr/>
          <p:nvPr/>
        </p:nvSpPr>
        <p:spPr>
          <a:xfrm>
            <a:off x="3474720" y="2606040"/>
            <a:ext cx="411480" cy="411480"/>
          </a:xfrm>
          <a:prstGeom prst="ellipse">
            <a:avLst/>
          </a:prstGeom>
          <a:solidFill>
            <a:srgbClr val="0E7C86"/>
          </a:solidFill>
          <a:ln/>
        </p:spPr>
        <p:txBody>
          <a:bodyPr/>
          <a:lstStyle/>
          <a:p>
            <a:endParaRPr lang="en-US"/>
          </a:p>
        </p:txBody>
      </p:sp>
      <p:sp>
        <p:nvSpPr>
          <p:cNvPr id="13" name="Text 11"/>
          <p:cNvSpPr txBox="1"/>
          <p:nvPr/>
        </p:nvSpPr>
        <p:spPr>
          <a:xfrm>
            <a:off x="3474720" y="260604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txBox="1"/>
          <p:nvPr/>
        </p:nvSpPr>
        <p:spPr>
          <a:xfrm>
            <a:off x="4023360" y="2560320"/>
            <a:ext cx="164592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Progreso</a:t>
            </a:r>
            <a:endParaRPr lang="en-US" sz="1500" dirty="0"/>
          </a:p>
        </p:txBody>
      </p:sp>
      <p:sp>
        <p:nvSpPr>
          <p:cNvPr id="15" name="Text 13"/>
          <p:cNvSpPr txBox="1"/>
          <p:nvPr/>
        </p:nvSpPr>
        <p:spPr>
          <a:xfrm>
            <a:off x="3520440" y="3108960"/>
            <a:ext cx="2103120" cy="1325880"/>
          </a:xfrm>
          <a:prstGeom prst="rect">
            <a:avLst/>
          </a:prstGeom>
          <a:noFill/>
          <a:ln/>
        </p:spPr>
        <p:txBody>
          <a:bodyPr wrap="square" lIns="0" tIns="0" rIns="0" bIns="0" rtlCol="0" anchor="t"/>
          <a:lstStyle/>
          <a:p>
            <a:pPr marL="0" indent="0">
              <a:buNone/>
            </a:pPr>
            <a:r>
              <a:rPr lang="en-US" sz="1250" dirty="0">
                <a:solidFill>
                  <a:srgbClr val="1B2733"/>
                </a:solidFill>
                <a:latin typeface="Calibri" pitchFamily="34" charset="0"/>
                <a:ea typeface="Calibri" pitchFamily="34" charset="-122"/>
                <a:cs typeface="Calibri" pitchFamily="34" charset="-120"/>
              </a:rPr>
              <a:t>Si uno o más procesos </a:t>
            </a:r>
            <a:r>
              <a:rPr lang="en-US" sz="1250" dirty="0" err="1">
                <a:solidFill>
                  <a:srgbClr val="1B2733"/>
                </a:solidFill>
                <a:latin typeface="Calibri" pitchFamily="34" charset="0"/>
                <a:ea typeface="Calibri" pitchFamily="34" charset="-122"/>
                <a:cs typeface="Calibri" pitchFamily="34" charset="-120"/>
              </a:rPr>
              <a:t>desean</a:t>
            </a:r>
            <a:r>
              <a:rPr lang="en-US" sz="1250" dirty="0">
                <a:solidFill>
                  <a:srgbClr val="1B2733"/>
                </a:solidFill>
                <a:latin typeface="Calibri" pitchFamily="34" charset="0"/>
                <a:ea typeface="Calibri" pitchFamily="34" charset="-122"/>
                <a:cs typeface="Calibri" pitchFamily="34" charset="-120"/>
              </a:rPr>
              <a:t> </a:t>
            </a:r>
            <a:r>
              <a:rPr lang="en-US" sz="1250" dirty="0" err="1">
                <a:solidFill>
                  <a:srgbClr val="1B2733"/>
                </a:solidFill>
                <a:latin typeface="Calibri" pitchFamily="34" charset="0"/>
                <a:ea typeface="Calibri" pitchFamily="34" charset="-122"/>
                <a:cs typeface="Calibri" pitchFamily="34" charset="-120"/>
              </a:rPr>
              <a:t>entrar</a:t>
            </a:r>
            <a:r>
              <a:rPr lang="en-US" sz="1250" dirty="0">
                <a:solidFill>
                  <a:srgbClr val="1B2733"/>
                </a:solidFill>
                <a:latin typeface="Calibri" pitchFamily="34" charset="0"/>
                <a:ea typeface="Calibri" pitchFamily="34" charset="-122"/>
                <a:cs typeface="Calibri" pitchFamily="34" charset="-120"/>
              </a:rPr>
              <a:t> </a:t>
            </a:r>
            <a:r>
              <a:rPr lang="en-US" sz="1250" dirty="0" err="1">
                <a:solidFill>
                  <a:srgbClr val="1B2733"/>
                </a:solidFill>
                <a:latin typeface="Calibri" pitchFamily="34" charset="0"/>
                <a:ea typeface="Calibri" pitchFamily="34" charset="-122"/>
                <a:cs typeface="Calibri" pitchFamily="34" charset="-120"/>
              </a:rPr>
              <a:t>en</a:t>
            </a:r>
            <a:r>
              <a:rPr lang="en-US" sz="1250" dirty="0">
                <a:solidFill>
                  <a:srgbClr val="1B2733"/>
                </a:solidFill>
                <a:latin typeface="Calibri" pitchFamily="34" charset="0"/>
                <a:ea typeface="Calibri" pitchFamily="34" charset="-122"/>
                <a:cs typeface="Calibri" pitchFamily="34" charset="-120"/>
              </a:rPr>
              <a:t> </a:t>
            </a:r>
            <a:r>
              <a:rPr lang="en-US" sz="1250" dirty="0" err="1">
                <a:solidFill>
                  <a:srgbClr val="1B2733"/>
                </a:solidFill>
                <a:latin typeface="Calibri" pitchFamily="34" charset="0"/>
                <a:ea typeface="Calibri" pitchFamily="34" charset="-122"/>
                <a:cs typeface="Calibri" pitchFamily="34" charset="-120"/>
              </a:rPr>
              <a:t>una</a:t>
            </a:r>
            <a:r>
              <a:rPr lang="en-US" sz="1250" dirty="0">
                <a:solidFill>
                  <a:srgbClr val="1B2733"/>
                </a:solidFill>
                <a:latin typeface="Calibri" pitchFamily="34" charset="0"/>
                <a:ea typeface="Calibri" pitchFamily="34" charset="-122"/>
                <a:cs typeface="Calibri" pitchFamily="34" charset="-120"/>
              </a:rPr>
              <a:t> </a:t>
            </a:r>
            <a:r>
              <a:rPr lang="en-US" sz="1250" dirty="0" err="1">
                <a:solidFill>
                  <a:srgbClr val="1B2733"/>
                </a:solidFill>
                <a:latin typeface="Calibri" pitchFamily="34" charset="0"/>
                <a:ea typeface="Calibri" pitchFamily="34" charset="-122"/>
                <a:cs typeface="Calibri" pitchFamily="34" charset="-120"/>
              </a:rPr>
              <a:t>sección</a:t>
            </a:r>
            <a:r>
              <a:rPr lang="en-US" sz="1250" dirty="0">
                <a:solidFill>
                  <a:srgbClr val="1B2733"/>
                </a:solidFill>
                <a:latin typeface="Calibri" pitchFamily="34" charset="0"/>
                <a:ea typeface="Calibri" pitchFamily="34" charset="-122"/>
                <a:cs typeface="Calibri" pitchFamily="34" charset="-120"/>
              </a:rPr>
              <a:t> </a:t>
            </a:r>
            <a:r>
              <a:rPr lang="en-US" sz="1250" dirty="0" err="1">
                <a:solidFill>
                  <a:srgbClr val="1B2733"/>
                </a:solidFill>
                <a:latin typeface="Calibri" pitchFamily="34" charset="0"/>
                <a:ea typeface="Calibri" pitchFamily="34" charset="-122"/>
                <a:cs typeface="Calibri" pitchFamily="34" charset="-120"/>
              </a:rPr>
              <a:t>crítica</a:t>
            </a:r>
            <a:r>
              <a:rPr lang="en-US" sz="1250" dirty="0">
                <a:solidFill>
                  <a:srgbClr val="1B2733"/>
                </a:solidFill>
                <a:latin typeface="Calibri" pitchFamily="34" charset="0"/>
                <a:ea typeface="Calibri" pitchFamily="34" charset="-122"/>
                <a:cs typeface="Calibri" pitchFamily="34" charset="-120"/>
              </a:rPr>
              <a:t>, alguno debe poder hacerlo; ninguno se bloquea indefinidamente.</a:t>
            </a:r>
            <a:endParaRPr lang="en-US" sz="1250" dirty="0"/>
          </a:p>
        </p:txBody>
      </p:sp>
      <p:sp>
        <p:nvSpPr>
          <p:cNvPr id="16" name="Shape 14"/>
          <p:cNvSpPr/>
          <p:nvPr/>
        </p:nvSpPr>
        <p:spPr>
          <a:xfrm>
            <a:off x="6035040" y="2423160"/>
            <a:ext cx="2560320" cy="2148840"/>
          </a:xfrm>
          <a:prstGeom prst="roundRect">
            <a:avLst>
              <a:gd name="adj" fmla="val 4255"/>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7" name="Shape 15"/>
          <p:cNvSpPr/>
          <p:nvPr/>
        </p:nvSpPr>
        <p:spPr>
          <a:xfrm>
            <a:off x="6217920" y="2606040"/>
            <a:ext cx="411480" cy="411480"/>
          </a:xfrm>
          <a:prstGeom prst="ellipse">
            <a:avLst/>
          </a:prstGeom>
          <a:solidFill>
            <a:srgbClr val="0E7C86"/>
          </a:solidFill>
          <a:ln/>
        </p:spPr>
        <p:txBody>
          <a:bodyPr/>
          <a:lstStyle/>
          <a:p>
            <a:endParaRPr lang="en-US"/>
          </a:p>
        </p:txBody>
      </p:sp>
      <p:sp>
        <p:nvSpPr>
          <p:cNvPr id="18" name="Text 16"/>
          <p:cNvSpPr txBox="1"/>
          <p:nvPr/>
        </p:nvSpPr>
        <p:spPr>
          <a:xfrm>
            <a:off x="6217920" y="260604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txBox="1"/>
          <p:nvPr/>
        </p:nvSpPr>
        <p:spPr>
          <a:xfrm>
            <a:off x="6766560" y="2560320"/>
            <a:ext cx="164592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Espera limitada</a:t>
            </a:r>
            <a:endParaRPr lang="en-US" sz="1500" dirty="0"/>
          </a:p>
        </p:txBody>
      </p:sp>
      <p:sp>
        <p:nvSpPr>
          <p:cNvPr id="20" name="Text 18"/>
          <p:cNvSpPr txBox="1"/>
          <p:nvPr/>
        </p:nvSpPr>
        <p:spPr>
          <a:xfrm>
            <a:off x="6263640" y="3108960"/>
            <a:ext cx="2103120" cy="1325880"/>
          </a:xfrm>
          <a:prstGeom prst="rect">
            <a:avLst/>
          </a:prstGeom>
          <a:noFill/>
          <a:ln/>
        </p:spPr>
        <p:txBody>
          <a:bodyPr wrap="square" lIns="0" tIns="0" rIns="0" bIns="0" rtlCol="0" anchor="t"/>
          <a:lstStyle/>
          <a:p>
            <a:pPr marL="0" indent="0">
              <a:buNone/>
            </a:pPr>
            <a:r>
              <a:rPr lang="en-US" sz="1250" dirty="0">
                <a:solidFill>
                  <a:srgbClr val="1B2733"/>
                </a:solidFill>
                <a:latin typeface="Calibri" pitchFamily="34" charset="0"/>
                <a:ea typeface="Calibri" pitchFamily="34" charset="-122"/>
                <a:cs typeface="Calibri" pitchFamily="34" charset="-120"/>
              </a:rPr>
              <a:t>Un proceso en </a:t>
            </a:r>
            <a:r>
              <a:rPr lang="en-US" sz="1250" dirty="0" err="1">
                <a:solidFill>
                  <a:srgbClr val="1B2733"/>
                </a:solidFill>
                <a:latin typeface="Calibri" pitchFamily="34" charset="0"/>
                <a:ea typeface="Calibri" pitchFamily="34" charset="-122"/>
                <a:cs typeface="Calibri" pitchFamily="34" charset="-120"/>
              </a:rPr>
              <a:t>espera</a:t>
            </a:r>
            <a:r>
              <a:rPr lang="en-US" sz="1250" dirty="0">
                <a:solidFill>
                  <a:srgbClr val="1B2733"/>
                </a:solidFill>
                <a:latin typeface="Calibri" pitchFamily="34" charset="0"/>
                <a:ea typeface="Calibri" pitchFamily="34" charset="-122"/>
                <a:cs typeface="Calibri" pitchFamily="34" charset="-120"/>
              </a:rPr>
              <a:t> </a:t>
            </a:r>
            <a:r>
              <a:rPr lang="es-ES" sz="1250" dirty="0">
                <a:solidFill>
                  <a:srgbClr val="1B2733"/>
                </a:solidFill>
                <a:latin typeface="Calibri" pitchFamily="34" charset="0"/>
                <a:ea typeface="Calibri" pitchFamily="34" charset="-122"/>
                <a:cs typeface="Calibri" pitchFamily="34" charset="-120"/>
              </a:rPr>
              <a:t>de entrar a una sección crítica no debe de ignorarse para siempre, debe de llegar un momento en el que pueda entrar a la sección.</a:t>
            </a:r>
            <a:r>
              <a:rPr lang="en-US" sz="1250" dirty="0">
                <a:solidFill>
                  <a:srgbClr val="1B2733"/>
                </a:solidFill>
                <a:latin typeface="Calibri" pitchFamily="34" charset="0"/>
                <a:ea typeface="Calibri" pitchFamily="34" charset="-122"/>
                <a:cs typeface="Calibri" pitchFamily="34" charset="-120"/>
              </a:rPr>
              <a: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PETERSON</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Peterson: historia</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1389186"/>
            <a:ext cx="8046720" cy="1097280"/>
          </a:xfrm>
          <a:prstGeom prst="rect">
            <a:avLst/>
          </a:prstGeom>
          <a:noFill/>
          <a:ln/>
        </p:spPr>
        <p:txBody>
          <a:bodyPr wrap="square" lIns="0" tIns="0" rIns="0" bIns="0" rtlCol="0" anchor="ctr"/>
          <a:lstStyle/>
          <a:p>
            <a:pPr marL="0" indent="0" algn="just">
              <a:buNone/>
            </a:pPr>
            <a:r>
              <a:rPr lang="es-ES" sz="1400" dirty="0">
                <a:solidFill>
                  <a:srgbClr val="1B2733"/>
                </a:solidFill>
                <a:latin typeface="Calibri" pitchFamily="34" charset="0"/>
                <a:ea typeface="Calibri" pitchFamily="34" charset="-122"/>
                <a:cs typeface="Calibri" pitchFamily="34" charset="-120"/>
              </a:rPr>
              <a:t>Desde las décadas de los 60s y 70s, con del inicio de los sistemas multiprogramados, la importancia de coordinar procesos con recursos compartidos se volvió más y más esencial. Para ello, se estudiaron durante varios años diferentes tipos de soluciones para la exclusión mutua, algunos de los progresos más importante fueron hechos por </a:t>
            </a:r>
            <a:r>
              <a:rPr lang="es-ES" sz="1400" dirty="0" err="1">
                <a:solidFill>
                  <a:srgbClr val="1B2733"/>
                </a:solidFill>
                <a:latin typeface="Calibri" pitchFamily="34" charset="0"/>
                <a:ea typeface="Calibri" pitchFamily="34" charset="-122"/>
                <a:cs typeface="Calibri" pitchFamily="34" charset="-120"/>
              </a:rPr>
              <a:t>Edsger</a:t>
            </a:r>
            <a:r>
              <a:rPr lang="es-ES" sz="1400" dirty="0">
                <a:solidFill>
                  <a:srgbClr val="1B2733"/>
                </a:solidFill>
                <a:latin typeface="Calibri" pitchFamily="34" charset="0"/>
                <a:ea typeface="Calibri" pitchFamily="34" charset="-122"/>
                <a:cs typeface="Calibri" pitchFamily="34" charset="-120"/>
              </a:rPr>
              <a:t> Dijkstra que estudió diferentes soluciones y después introdujo los semáforos, posteriormente </a:t>
            </a:r>
            <a:r>
              <a:rPr lang="es-ES" sz="1400" dirty="0" err="1">
                <a:solidFill>
                  <a:srgbClr val="1B2733"/>
                </a:solidFill>
                <a:latin typeface="Calibri" pitchFamily="34" charset="0"/>
                <a:ea typeface="Calibri" pitchFamily="34" charset="-122"/>
                <a:cs typeface="Calibri" pitchFamily="34" charset="-120"/>
              </a:rPr>
              <a:t>Teodorus</a:t>
            </a:r>
            <a:r>
              <a:rPr lang="es-ES" sz="1400" dirty="0">
                <a:solidFill>
                  <a:srgbClr val="1B2733"/>
                </a:solidFill>
                <a:latin typeface="Calibri" pitchFamily="34" charset="0"/>
                <a:ea typeface="Calibri" pitchFamily="34" charset="-122"/>
                <a:cs typeface="Calibri" pitchFamily="34" charset="-120"/>
              </a:rPr>
              <a:t> Dekker introdujo el primer algoritmo para solucionar la exclusión mutua, sin embargo, era muy complejo y difícil de entender. </a:t>
            </a:r>
            <a:endParaRPr lang="en-US" sz="1400" dirty="0"/>
          </a:p>
        </p:txBody>
      </p:sp>
      <p:sp>
        <p:nvSpPr>
          <p:cNvPr id="6" name="Shape 4"/>
          <p:cNvSpPr/>
          <p:nvPr/>
        </p:nvSpPr>
        <p:spPr>
          <a:xfrm>
            <a:off x="548640" y="2788924"/>
            <a:ext cx="8046720" cy="1920240"/>
          </a:xfrm>
          <a:prstGeom prst="roundRect">
            <a:avLst>
              <a:gd name="adj" fmla="val 4762"/>
            </a:avLst>
          </a:prstGeom>
          <a:solidFill>
            <a:srgbClr val="0B1F3A"/>
          </a:solidFill>
          <a:ln/>
        </p:spPr>
        <p:txBody>
          <a:bodyPr/>
          <a:lstStyle/>
          <a:p>
            <a:endParaRPr lang="en-US"/>
          </a:p>
        </p:txBody>
      </p:sp>
      <p:sp>
        <p:nvSpPr>
          <p:cNvPr id="7" name="Text 5"/>
          <p:cNvSpPr txBox="1"/>
          <p:nvPr/>
        </p:nvSpPr>
        <p:spPr>
          <a:xfrm>
            <a:off x="731520" y="2926084"/>
            <a:ext cx="2011680" cy="914400"/>
          </a:xfrm>
          <a:prstGeom prst="rect">
            <a:avLst/>
          </a:prstGeom>
          <a:noFill/>
          <a:ln/>
        </p:spPr>
        <p:txBody>
          <a:bodyPr wrap="square" lIns="0" tIns="0" rIns="0" bIns="0" rtlCol="0" anchor="ctr"/>
          <a:lstStyle/>
          <a:p>
            <a:pPr marL="0" indent="0">
              <a:buNone/>
            </a:pPr>
            <a:r>
              <a:rPr lang="en-US" sz="4800" b="1" dirty="0">
                <a:solidFill>
                  <a:srgbClr val="E8A33D"/>
                </a:solidFill>
                <a:latin typeface="Cambria" pitchFamily="34" charset="0"/>
                <a:ea typeface="Cambria" pitchFamily="34" charset="-122"/>
                <a:cs typeface="Cambria" pitchFamily="34" charset="-120"/>
              </a:rPr>
              <a:t>1981</a:t>
            </a:r>
            <a:endParaRPr lang="en-US" sz="4800" dirty="0"/>
          </a:p>
        </p:txBody>
      </p:sp>
      <p:sp>
        <p:nvSpPr>
          <p:cNvPr id="8" name="Text 6"/>
          <p:cNvSpPr txBox="1"/>
          <p:nvPr/>
        </p:nvSpPr>
        <p:spPr>
          <a:xfrm>
            <a:off x="2834640" y="2926084"/>
            <a:ext cx="5577840" cy="1645920"/>
          </a:xfrm>
          <a:prstGeom prst="rect">
            <a:avLst/>
          </a:prstGeom>
          <a:noFill/>
          <a:ln/>
        </p:spPr>
        <p:txBody>
          <a:bodyPr wrap="square" lIns="0" tIns="0" rIns="0" bIns="0" rtlCol="0" anchor="ctr"/>
          <a:lstStyle/>
          <a:p>
            <a:pPr marL="0" indent="0" algn="just">
              <a:buNone/>
            </a:pPr>
            <a:r>
              <a:rPr lang="es-ES" sz="1400" dirty="0">
                <a:solidFill>
                  <a:srgbClr val="FFFFFF"/>
                </a:solidFill>
                <a:latin typeface="Calibri" pitchFamily="34" charset="0"/>
                <a:ea typeface="Calibri" pitchFamily="34" charset="-122"/>
                <a:cs typeface="Calibri" pitchFamily="34" charset="-120"/>
              </a:rPr>
              <a:t>Siguiendo el trabajo de estos dos personajes, Gary L. Peterson en 1981  publicó un artículo titulado "</a:t>
            </a:r>
            <a:r>
              <a:rPr lang="es-ES" sz="1400" dirty="0" err="1">
                <a:solidFill>
                  <a:srgbClr val="FFFFFF"/>
                </a:solidFill>
                <a:latin typeface="Calibri" pitchFamily="34" charset="0"/>
                <a:ea typeface="Calibri" pitchFamily="34" charset="-122"/>
                <a:cs typeface="Calibri" pitchFamily="34" charset="-120"/>
              </a:rPr>
              <a:t>Myths</a:t>
            </a:r>
            <a:r>
              <a:rPr lang="es-ES" sz="1400" dirty="0">
                <a:solidFill>
                  <a:srgbClr val="FFFFFF"/>
                </a:solidFill>
                <a:latin typeface="Calibri" pitchFamily="34" charset="0"/>
                <a:ea typeface="Calibri" pitchFamily="34" charset="-122"/>
                <a:cs typeface="Calibri" pitchFamily="34" charset="-120"/>
              </a:rPr>
              <a:t> </a:t>
            </a:r>
            <a:r>
              <a:rPr lang="es-ES" sz="1400" dirty="0" err="1">
                <a:solidFill>
                  <a:srgbClr val="FFFFFF"/>
                </a:solidFill>
                <a:latin typeface="Calibri" pitchFamily="34" charset="0"/>
                <a:ea typeface="Calibri" pitchFamily="34" charset="-122"/>
                <a:cs typeface="Calibri" pitchFamily="34" charset="-120"/>
              </a:rPr>
              <a:t>About</a:t>
            </a:r>
            <a:r>
              <a:rPr lang="es-ES" sz="1400" dirty="0">
                <a:solidFill>
                  <a:srgbClr val="FFFFFF"/>
                </a:solidFill>
                <a:latin typeface="Calibri" pitchFamily="34" charset="0"/>
                <a:ea typeface="Calibri" pitchFamily="34" charset="-122"/>
                <a:cs typeface="Calibri" pitchFamily="34" charset="-120"/>
              </a:rPr>
              <a:t> </a:t>
            </a:r>
            <a:r>
              <a:rPr lang="es-ES" sz="1400" dirty="0" err="1">
                <a:solidFill>
                  <a:srgbClr val="FFFFFF"/>
                </a:solidFill>
                <a:latin typeface="Calibri" pitchFamily="34" charset="0"/>
                <a:ea typeface="Calibri" pitchFamily="34" charset="-122"/>
                <a:cs typeface="Calibri" pitchFamily="34" charset="-120"/>
              </a:rPr>
              <a:t>the</a:t>
            </a:r>
            <a:r>
              <a:rPr lang="es-ES" sz="1400" dirty="0">
                <a:solidFill>
                  <a:srgbClr val="FFFFFF"/>
                </a:solidFill>
                <a:latin typeface="Calibri" pitchFamily="34" charset="0"/>
                <a:ea typeface="Calibri" pitchFamily="34" charset="-122"/>
                <a:cs typeface="Calibri" pitchFamily="34" charset="-120"/>
              </a:rPr>
              <a:t> Mutual </a:t>
            </a:r>
            <a:r>
              <a:rPr lang="es-ES" sz="1400" dirty="0" err="1">
                <a:solidFill>
                  <a:srgbClr val="FFFFFF"/>
                </a:solidFill>
                <a:latin typeface="Calibri" pitchFamily="34" charset="0"/>
                <a:ea typeface="Calibri" pitchFamily="34" charset="-122"/>
                <a:cs typeface="Calibri" pitchFamily="34" charset="-120"/>
              </a:rPr>
              <a:t>Exclusion</a:t>
            </a:r>
            <a:r>
              <a:rPr lang="es-ES" sz="1400" dirty="0">
                <a:solidFill>
                  <a:srgbClr val="FFFFFF"/>
                </a:solidFill>
                <a:latin typeface="Calibri" pitchFamily="34" charset="0"/>
                <a:ea typeface="Calibri" pitchFamily="34" charset="-122"/>
                <a:cs typeface="Calibri" pitchFamily="34" charset="-120"/>
              </a:rPr>
              <a:t> </a:t>
            </a:r>
            <a:r>
              <a:rPr lang="es-ES" sz="1400" dirty="0" err="1">
                <a:solidFill>
                  <a:srgbClr val="FFFFFF"/>
                </a:solidFill>
                <a:latin typeface="Calibri" pitchFamily="34" charset="0"/>
                <a:ea typeface="Calibri" pitchFamily="34" charset="-122"/>
                <a:cs typeface="Calibri" pitchFamily="34" charset="-120"/>
              </a:rPr>
              <a:t>Problem</a:t>
            </a:r>
            <a:r>
              <a:rPr lang="es-ES" sz="1400" dirty="0">
                <a:solidFill>
                  <a:srgbClr val="FFFFFF"/>
                </a:solidFill>
                <a:latin typeface="Calibri" pitchFamily="34" charset="0"/>
                <a:ea typeface="Calibri" pitchFamily="34" charset="-122"/>
                <a:cs typeface="Calibri" pitchFamily="34" charset="-120"/>
              </a:rPr>
              <a:t>"  en el cual explicaba su propio algoritmo de exclusión mutua, el cual resultó ser una respuesta mucho más sencilla y a la vez formal que la versión de Dekker. La gran aportación de Peterson fue demostrar que la exclusión mutua se podía lograr con apenas dos variables compartidas entre un par de procesos.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PETERSON</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Peterson: funcionamiento</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1072661" y="1619544"/>
            <a:ext cx="6998678" cy="2073225"/>
          </a:xfrm>
          <a:prstGeom prst="roundRect">
            <a:avLst>
              <a:gd name="adj" fmla="val 7407"/>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0" name="Text 8"/>
          <p:cNvSpPr txBox="1"/>
          <p:nvPr/>
        </p:nvSpPr>
        <p:spPr>
          <a:xfrm>
            <a:off x="1396218" y="1844628"/>
            <a:ext cx="6274191" cy="803637"/>
          </a:xfrm>
          <a:prstGeom prst="rect">
            <a:avLst/>
          </a:prstGeom>
          <a:noFill/>
          <a:ln/>
        </p:spPr>
        <p:txBody>
          <a:bodyPr wrap="square" lIns="0" tIns="0" rIns="0" bIns="0" rtlCol="0" anchor="t"/>
          <a:lstStyle/>
          <a:p>
            <a:pPr marL="0" indent="0">
              <a:buNone/>
            </a:pPr>
            <a:r>
              <a:rPr lang="es-ES" sz="1250" dirty="0">
                <a:solidFill>
                  <a:srgbClr val="1B2733"/>
                </a:solidFill>
                <a:latin typeface="Calibri" pitchFamily="34" charset="0"/>
                <a:ea typeface="Calibri" pitchFamily="34" charset="-122"/>
                <a:cs typeface="Calibri" pitchFamily="34" charset="-120"/>
              </a:rPr>
              <a:t>Se tienen dos variables compartidas entre los dos procesos a coordinar: </a:t>
            </a:r>
          </a:p>
          <a:p>
            <a:pPr marL="0" indent="0">
              <a:buNone/>
            </a:pPr>
            <a:r>
              <a:rPr lang="es-ES" sz="1250" b="1" dirty="0">
                <a:solidFill>
                  <a:srgbClr val="1B2733"/>
                </a:solidFill>
                <a:latin typeface="Calibri" pitchFamily="34" charset="0"/>
                <a:ea typeface="Calibri" pitchFamily="34" charset="-122"/>
                <a:cs typeface="Calibri" pitchFamily="34" charset="-120"/>
              </a:rPr>
              <a:t>Flag: </a:t>
            </a:r>
            <a:r>
              <a:rPr lang="es-ES" sz="1250" dirty="0">
                <a:solidFill>
                  <a:srgbClr val="1B2733"/>
                </a:solidFill>
                <a:latin typeface="Calibri" pitchFamily="34" charset="0"/>
                <a:ea typeface="Calibri" pitchFamily="34" charset="-122"/>
                <a:cs typeface="Calibri" pitchFamily="34" charset="-120"/>
              </a:rPr>
              <a:t>el cual es un arreglo de booleanos que avisa si cualquiera de los algoritmos quiere entrar a la sección. Para decir que el proceso 0 quiere entrar a la sección se pone </a:t>
            </a:r>
            <a:r>
              <a:rPr lang="es-ES" sz="1250" dirty="0" err="1">
                <a:solidFill>
                  <a:srgbClr val="1B2733"/>
                </a:solidFill>
                <a:latin typeface="Calibri" pitchFamily="34" charset="0"/>
                <a:ea typeface="Calibri" pitchFamily="34" charset="-122"/>
                <a:cs typeface="Calibri" pitchFamily="34" charset="-120"/>
              </a:rPr>
              <a:t>flag</a:t>
            </a:r>
            <a:r>
              <a:rPr lang="es-ES" sz="1250" dirty="0">
                <a:solidFill>
                  <a:srgbClr val="1B2733"/>
                </a:solidFill>
                <a:latin typeface="Calibri" pitchFamily="34" charset="0"/>
                <a:ea typeface="Calibri" pitchFamily="34" charset="-122"/>
                <a:cs typeface="Calibri" pitchFamily="34" charset="-120"/>
              </a:rPr>
              <a:t>[0] en true, por otro lado si el proceso 1 quiere entrar a la sección, se pone </a:t>
            </a:r>
            <a:r>
              <a:rPr lang="es-ES" sz="1250" dirty="0" err="1">
                <a:solidFill>
                  <a:srgbClr val="1B2733"/>
                </a:solidFill>
                <a:latin typeface="Calibri" pitchFamily="34" charset="0"/>
                <a:ea typeface="Calibri" pitchFamily="34" charset="-122"/>
                <a:cs typeface="Calibri" pitchFamily="34" charset="-120"/>
              </a:rPr>
              <a:t>flag</a:t>
            </a:r>
            <a:r>
              <a:rPr lang="es-ES" sz="1250" dirty="0">
                <a:solidFill>
                  <a:srgbClr val="1B2733"/>
                </a:solidFill>
                <a:latin typeface="Calibri" pitchFamily="34" charset="0"/>
                <a:ea typeface="Calibri" pitchFamily="34" charset="-122"/>
                <a:cs typeface="Calibri" pitchFamily="34" charset="-120"/>
              </a:rPr>
              <a:t>[1] en true.</a:t>
            </a:r>
          </a:p>
          <a:p>
            <a:pPr marL="0" indent="0">
              <a:buNone/>
            </a:pPr>
            <a:r>
              <a:rPr lang="es-ES" sz="1250" b="1" dirty="0">
                <a:solidFill>
                  <a:srgbClr val="1B2733"/>
                </a:solidFill>
                <a:latin typeface="Calibri" pitchFamily="34" charset="0"/>
                <a:ea typeface="Calibri" pitchFamily="34" charset="-122"/>
                <a:cs typeface="Calibri" pitchFamily="34" charset="-120"/>
              </a:rPr>
              <a:t>Turn: </a:t>
            </a:r>
            <a:r>
              <a:rPr lang="es-ES" sz="1250" dirty="0">
                <a:solidFill>
                  <a:srgbClr val="1B2733"/>
                </a:solidFill>
                <a:latin typeface="Calibri" pitchFamily="34" charset="0"/>
                <a:ea typeface="Calibri" pitchFamily="34" charset="-122"/>
                <a:cs typeface="Calibri" pitchFamily="34" charset="-120"/>
              </a:rPr>
              <a:t>se encarga de desempatar y decidir cuál de los dos procesos será el que entre primero a la sección crítica. Es un valor entero que tiene 0 si se le dará prioridad al proceso 0 y tiene 1 si se le dará prioridad al proceso 1.</a:t>
            </a:r>
          </a:p>
          <a:p>
            <a:pPr marL="0" indent="0">
              <a:buNone/>
            </a:pPr>
            <a:br>
              <a:rPr lang="es-ES" sz="1250" dirty="0">
                <a:solidFill>
                  <a:srgbClr val="1B2733"/>
                </a:solidFill>
                <a:latin typeface="Calibri" pitchFamily="34" charset="0"/>
                <a:ea typeface="Calibri" pitchFamily="34" charset="-122"/>
                <a:cs typeface="Calibri" pitchFamily="34" charset="-120"/>
              </a:rPr>
            </a:br>
            <a:endParaRPr lang="es-ES" sz="1250" dirty="0">
              <a:solidFill>
                <a:srgbClr val="1B2733"/>
              </a:solidFill>
              <a:latin typeface="Calibri" pitchFamily="34" charset="0"/>
              <a:ea typeface="Calibri" pitchFamily="34" charset="-122"/>
              <a:cs typeface="Calibri" pitchFamily="34" charset="-120"/>
            </a:endParaRPr>
          </a:p>
          <a:p>
            <a:pPr marL="0" indent="0">
              <a:buNone/>
            </a:pPr>
            <a:br>
              <a:rPr lang="es-ES" sz="1250" dirty="0">
                <a:solidFill>
                  <a:srgbClr val="1B2733"/>
                </a:solidFill>
                <a:latin typeface="Calibri" pitchFamily="34" charset="0"/>
                <a:ea typeface="Calibri" pitchFamily="34" charset="-122"/>
                <a:cs typeface="Calibri" pitchFamily="34" charset="-120"/>
              </a:rPr>
            </a:b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a:extLst>
            <a:ext uri="{FF2B5EF4-FFF2-40B4-BE49-F238E27FC236}">
              <a16:creationId xmlns:a16="http://schemas.microsoft.com/office/drawing/2014/main" id="{E2C3580F-6535-833A-5205-5A4AEF4B936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C9766AA-5F68-7264-61BB-66D23857981B}"/>
              </a:ext>
            </a:extLst>
          </p:cNvPr>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PETERSON</a:t>
            </a:r>
            <a:endParaRPr lang="en-US" sz="1100" dirty="0"/>
          </a:p>
        </p:txBody>
      </p:sp>
      <p:sp>
        <p:nvSpPr>
          <p:cNvPr id="3" name="Text 1">
            <a:extLst>
              <a:ext uri="{FF2B5EF4-FFF2-40B4-BE49-F238E27FC236}">
                <a16:creationId xmlns:a16="http://schemas.microsoft.com/office/drawing/2014/main" id="{AD1DD16C-4752-C567-E679-8C102806F0A5}"/>
              </a:ext>
            </a:extLst>
          </p:cNvPr>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Peterson: funcionamiento</a:t>
            </a:r>
            <a:endParaRPr lang="en-US" sz="3000" dirty="0"/>
          </a:p>
        </p:txBody>
      </p:sp>
      <p:sp>
        <p:nvSpPr>
          <p:cNvPr id="4" name="Text 2">
            <a:extLst>
              <a:ext uri="{FF2B5EF4-FFF2-40B4-BE49-F238E27FC236}">
                <a16:creationId xmlns:a16="http://schemas.microsoft.com/office/drawing/2014/main" id="{169DB4B7-1D05-1125-1465-8CB544B44FF8}"/>
              </a:ext>
            </a:extLst>
          </p:cNvPr>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13</a:t>
            </a:r>
            <a:endParaRPr lang="en-US" sz="1000" dirty="0"/>
          </a:p>
        </p:txBody>
      </p:sp>
      <p:sp>
        <p:nvSpPr>
          <p:cNvPr id="5" name="Shape 3">
            <a:extLst>
              <a:ext uri="{FF2B5EF4-FFF2-40B4-BE49-F238E27FC236}">
                <a16:creationId xmlns:a16="http://schemas.microsoft.com/office/drawing/2014/main" id="{F90F63D4-B950-71BD-A38E-129E60F41C49}"/>
              </a:ext>
            </a:extLst>
          </p:cNvPr>
          <p:cNvSpPr/>
          <p:nvPr/>
        </p:nvSpPr>
        <p:spPr>
          <a:xfrm>
            <a:off x="548640" y="1338190"/>
            <a:ext cx="8046720" cy="3135336"/>
          </a:xfrm>
          <a:prstGeom prst="roundRect">
            <a:avLst>
              <a:gd name="adj" fmla="val 7407"/>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0" name="Text 8">
            <a:extLst>
              <a:ext uri="{FF2B5EF4-FFF2-40B4-BE49-F238E27FC236}">
                <a16:creationId xmlns:a16="http://schemas.microsoft.com/office/drawing/2014/main" id="{C76D8983-BCCD-7D83-CA5A-C30BE218BD01}"/>
              </a:ext>
            </a:extLst>
          </p:cNvPr>
          <p:cNvSpPr txBox="1"/>
          <p:nvPr/>
        </p:nvSpPr>
        <p:spPr>
          <a:xfrm>
            <a:off x="822960" y="1563274"/>
            <a:ext cx="7498080" cy="803637"/>
          </a:xfrm>
          <a:prstGeom prst="rect">
            <a:avLst/>
          </a:prstGeom>
          <a:noFill/>
          <a:ln/>
        </p:spPr>
        <p:txBody>
          <a:bodyPr wrap="square" lIns="0" tIns="0" rIns="0" bIns="0" rtlCol="0" anchor="t"/>
          <a:lstStyle/>
          <a:p>
            <a:r>
              <a:rPr lang="es-ES" sz="1250" dirty="0">
                <a:solidFill>
                  <a:srgbClr val="1B2733"/>
                </a:solidFill>
                <a:latin typeface="Calibri" pitchFamily="34" charset="0"/>
                <a:ea typeface="Calibri" pitchFamily="34" charset="-122"/>
                <a:cs typeface="Calibri" pitchFamily="34" charset="-120"/>
              </a:rPr>
              <a:t>La base del funcionamiento del algoritmo se base en que, cada vez que un algoritmo desee entrar a la sección crítica, debe de activar su </a:t>
            </a:r>
            <a:r>
              <a:rPr lang="es-ES" sz="1250" dirty="0" err="1">
                <a:solidFill>
                  <a:srgbClr val="1B2733"/>
                </a:solidFill>
                <a:latin typeface="Calibri" pitchFamily="34" charset="0"/>
                <a:ea typeface="Calibri" pitchFamily="34" charset="-122"/>
                <a:cs typeface="Calibri" pitchFamily="34" charset="-120"/>
              </a:rPr>
              <a:t>flag</a:t>
            </a:r>
            <a:r>
              <a:rPr lang="es-ES" sz="1250" dirty="0">
                <a:solidFill>
                  <a:srgbClr val="1B2733"/>
                </a:solidFill>
                <a:latin typeface="Calibri" pitchFamily="34" charset="0"/>
                <a:ea typeface="Calibri" pitchFamily="34" charset="-122"/>
                <a:cs typeface="Calibri" pitchFamily="34" charset="-120"/>
              </a:rPr>
              <a:t> y ceder el turno al otro proceso, por lo tanto, si el proceso 0 quiere entrar, el procedimiento que se seguirá será:</a:t>
            </a:r>
          </a:p>
          <a:p>
            <a:pPr marL="742950" lvl="1" indent="-285750">
              <a:buFont typeface="Arial" panose="020B0604020202020204" pitchFamily="34" charset="0"/>
              <a:buChar char="•"/>
            </a:pPr>
            <a:r>
              <a:rPr lang="es-ES" sz="1250" dirty="0">
                <a:solidFill>
                  <a:srgbClr val="1B2733"/>
                </a:solidFill>
                <a:latin typeface="Calibri" pitchFamily="34" charset="0"/>
                <a:ea typeface="Calibri" pitchFamily="34" charset="-122"/>
                <a:cs typeface="Calibri" pitchFamily="34" charset="-120"/>
              </a:rPr>
              <a:t>Poner </a:t>
            </a:r>
            <a:r>
              <a:rPr lang="es-ES" sz="1250" dirty="0" err="1">
                <a:solidFill>
                  <a:srgbClr val="1B2733"/>
                </a:solidFill>
                <a:latin typeface="Calibri" pitchFamily="34" charset="0"/>
                <a:ea typeface="Calibri" pitchFamily="34" charset="-122"/>
                <a:cs typeface="Calibri" pitchFamily="34" charset="-120"/>
              </a:rPr>
              <a:t>flag</a:t>
            </a:r>
            <a:r>
              <a:rPr lang="es-ES" sz="1250" dirty="0">
                <a:solidFill>
                  <a:srgbClr val="1B2733"/>
                </a:solidFill>
                <a:latin typeface="Calibri" pitchFamily="34" charset="0"/>
                <a:ea typeface="Calibri" pitchFamily="34" charset="-122"/>
                <a:cs typeface="Calibri" pitchFamily="34" charset="-120"/>
              </a:rPr>
              <a:t>[0] en true</a:t>
            </a:r>
          </a:p>
          <a:p>
            <a:pPr marL="742950" lvl="1" indent="-285750">
              <a:buFont typeface="Arial" panose="020B0604020202020204" pitchFamily="34" charset="0"/>
              <a:buChar char="•"/>
            </a:pPr>
            <a:r>
              <a:rPr lang="es-ES" sz="1250" dirty="0">
                <a:solidFill>
                  <a:srgbClr val="1B2733"/>
                </a:solidFill>
                <a:latin typeface="Calibri" pitchFamily="34" charset="0"/>
                <a:ea typeface="Calibri" pitchFamily="34" charset="-122"/>
                <a:cs typeface="Calibri" pitchFamily="34" charset="-120"/>
              </a:rPr>
              <a:t>Poner </a:t>
            </a:r>
            <a:r>
              <a:rPr lang="es-ES" sz="1250" dirty="0" err="1">
                <a:solidFill>
                  <a:srgbClr val="1B2733"/>
                </a:solidFill>
                <a:latin typeface="Calibri" pitchFamily="34" charset="0"/>
                <a:ea typeface="Calibri" pitchFamily="34" charset="-122"/>
                <a:cs typeface="Calibri" pitchFamily="34" charset="-120"/>
              </a:rPr>
              <a:t>turn</a:t>
            </a:r>
            <a:r>
              <a:rPr lang="es-ES" sz="1250" dirty="0">
                <a:solidFill>
                  <a:srgbClr val="1B2733"/>
                </a:solidFill>
                <a:latin typeface="Calibri" pitchFamily="34" charset="0"/>
                <a:ea typeface="Calibri" pitchFamily="34" charset="-122"/>
                <a:cs typeface="Calibri" pitchFamily="34" charset="-120"/>
              </a:rPr>
              <a:t> en 1</a:t>
            </a:r>
          </a:p>
          <a:p>
            <a:r>
              <a:rPr lang="es-ES" sz="1250" dirty="0">
                <a:solidFill>
                  <a:srgbClr val="1B2733"/>
                </a:solidFill>
                <a:latin typeface="Calibri" pitchFamily="34" charset="0"/>
                <a:ea typeface="Calibri" pitchFamily="34" charset="-122"/>
                <a:cs typeface="Calibri" pitchFamily="34" charset="-120"/>
              </a:rPr>
              <a:t>Por otro lado, si el proceso 1 es el que desea entrar, se seguirán los siguientes pasos:</a:t>
            </a:r>
          </a:p>
          <a:p>
            <a:pPr marL="742950" lvl="1" indent="-285750">
              <a:buFont typeface="Arial" panose="020B0604020202020204" pitchFamily="34" charset="0"/>
              <a:buChar char="•"/>
            </a:pPr>
            <a:r>
              <a:rPr lang="es-ES" sz="1250" dirty="0">
                <a:solidFill>
                  <a:srgbClr val="1B2733"/>
                </a:solidFill>
                <a:latin typeface="Calibri" pitchFamily="34" charset="0"/>
                <a:ea typeface="Calibri" pitchFamily="34" charset="-122"/>
                <a:cs typeface="Calibri" pitchFamily="34" charset="-120"/>
              </a:rPr>
              <a:t>Poner </a:t>
            </a:r>
            <a:r>
              <a:rPr lang="es-ES" sz="1250" dirty="0" err="1">
                <a:solidFill>
                  <a:srgbClr val="1B2733"/>
                </a:solidFill>
                <a:latin typeface="Calibri" pitchFamily="34" charset="0"/>
                <a:ea typeface="Calibri" pitchFamily="34" charset="-122"/>
                <a:cs typeface="Calibri" pitchFamily="34" charset="-120"/>
              </a:rPr>
              <a:t>flag</a:t>
            </a:r>
            <a:r>
              <a:rPr lang="es-ES" sz="1250" dirty="0">
                <a:solidFill>
                  <a:srgbClr val="1B2733"/>
                </a:solidFill>
                <a:latin typeface="Calibri" pitchFamily="34" charset="0"/>
                <a:ea typeface="Calibri" pitchFamily="34" charset="-122"/>
                <a:cs typeface="Calibri" pitchFamily="34" charset="-120"/>
              </a:rPr>
              <a:t>[1] en true</a:t>
            </a:r>
          </a:p>
          <a:p>
            <a:pPr marL="742950" lvl="1" indent="-285750">
              <a:buFont typeface="Arial" panose="020B0604020202020204" pitchFamily="34" charset="0"/>
              <a:buChar char="•"/>
            </a:pPr>
            <a:r>
              <a:rPr lang="es-ES" sz="1250" dirty="0">
                <a:solidFill>
                  <a:srgbClr val="1B2733"/>
                </a:solidFill>
                <a:latin typeface="Calibri" pitchFamily="34" charset="0"/>
                <a:ea typeface="Calibri" pitchFamily="34" charset="-122"/>
                <a:cs typeface="Calibri" pitchFamily="34" charset="-120"/>
              </a:rPr>
              <a:t>Poner </a:t>
            </a:r>
            <a:r>
              <a:rPr lang="es-ES" sz="1250" dirty="0" err="1">
                <a:solidFill>
                  <a:srgbClr val="1B2733"/>
                </a:solidFill>
                <a:latin typeface="Calibri" pitchFamily="34" charset="0"/>
                <a:ea typeface="Calibri" pitchFamily="34" charset="-122"/>
                <a:cs typeface="Calibri" pitchFamily="34" charset="-120"/>
              </a:rPr>
              <a:t>turn</a:t>
            </a:r>
            <a:r>
              <a:rPr lang="es-ES" sz="1250" dirty="0">
                <a:solidFill>
                  <a:srgbClr val="1B2733"/>
                </a:solidFill>
                <a:latin typeface="Calibri" pitchFamily="34" charset="0"/>
                <a:ea typeface="Calibri" pitchFamily="34" charset="-122"/>
                <a:cs typeface="Calibri" pitchFamily="34" charset="-120"/>
              </a:rPr>
              <a:t> en 0</a:t>
            </a:r>
          </a:p>
          <a:p>
            <a:r>
              <a:rPr lang="es-ES" sz="1250" dirty="0">
                <a:solidFill>
                  <a:srgbClr val="1B2733"/>
                </a:solidFill>
                <a:latin typeface="Calibri" pitchFamily="34" charset="0"/>
                <a:ea typeface="Calibri" pitchFamily="34" charset="-122"/>
                <a:cs typeface="Calibri" pitchFamily="34" charset="-120"/>
              </a:rPr>
              <a:t>Una vez el proceso haya cedido su turno, espera de manera indefinida a que alguna de las siguientes cosas NO SE CUMPLA:</a:t>
            </a:r>
          </a:p>
          <a:p>
            <a:pPr marL="742950" lvl="1" indent="-285750">
              <a:buFont typeface="Arial" panose="020B0604020202020204" pitchFamily="34" charset="0"/>
              <a:buChar char="•"/>
            </a:pPr>
            <a:r>
              <a:rPr lang="es-ES" sz="1250" dirty="0">
                <a:solidFill>
                  <a:srgbClr val="1B2733"/>
                </a:solidFill>
                <a:latin typeface="Calibri" pitchFamily="34" charset="0"/>
                <a:ea typeface="Calibri" pitchFamily="34" charset="-122"/>
                <a:cs typeface="Calibri" pitchFamily="34" charset="-120"/>
              </a:rPr>
              <a:t>Que el </a:t>
            </a:r>
            <a:r>
              <a:rPr lang="es-ES" sz="1250" dirty="0" err="1">
                <a:solidFill>
                  <a:srgbClr val="1B2733"/>
                </a:solidFill>
                <a:latin typeface="Calibri" pitchFamily="34" charset="0"/>
                <a:ea typeface="Calibri" pitchFamily="34" charset="-122"/>
                <a:cs typeface="Calibri" pitchFamily="34" charset="-120"/>
              </a:rPr>
              <a:t>flag</a:t>
            </a:r>
            <a:r>
              <a:rPr lang="es-ES" sz="1250" dirty="0">
                <a:solidFill>
                  <a:srgbClr val="1B2733"/>
                </a:solidFill>
                <a:latin typeface="Calibri" pitchFamily="34" charset="0"/>
                <a:ea typeface="Calibri" pitchFamily="34" charset="-122"/>
                <a:cs typeface="Calibri" pitchFamily="34" charset="-120"/>
              </a:rPr>
              <a:t> del otro proceso se encuentre encendido</a:t>
            </a:r>
          </a:p>
          <a:p>
            <a:pPr marL="742950" lvl="1" indent="-285750">
              <a:buFont typeface="Arial" panose="020B0604020202020204" pitchFamily="34" charset="0"/>
              <a:buChar char="•"/>
            </a:pPr>
            <a:r>
              <a:rPr lang="es-ES" sz="1250" dirty="0">
                <a:solidFill>
                  <a:srgbClr val="1B2733"/>
                </a:solidFill>
                <a:latin typeface="Calibri" pitchFamily="34" charset="0"/>
                <a:ea typeface="Calibri" pitchFamily="34" charset="-122"/>
                <a:cs typeface="Calibri" pitchFamily="34" charset="-120"/>
              </a:rPr>
              <a:t>Que el turno diga que le toca al otro proceso</a:t>
            </a:r>
          </a:p>
          <a:p>
            <a:r>
              <a:rPr lang="es-ES" sz="1250" dirty="0">
                <a:solidFill>
                  <a:srgbClr val="1B2733"/>
                </a:solidFill>
                <a:latin typeface="Calibri" pitchFamily="34" charset="0"/>
                <a:ea typeface="Calibri" pitchFamily="34" charset="-122"/>
                <a:cs typeface="Calibri" pitchFamily="34" charset="-120"/>
              </a:rPr>
              <a:t>Mientras tanto, el proceso que haya sido elegido para entrar primero lo hará de inmediato y al salir, pondrá su propia bandera en false para que el siguiente proceso pueda entrar de inmediato.</a:t>
            </a:r>
          </a:p>
          <a:p>
            <a:pPr marL="0" indent="0">
              <a:buNone/>
            </a:pPr>
            <a:br>
              <a:rPr lang="es-ES" sz="1250" dirty="0">
                <a:solidFill>
                  <a:srgbClr val="1B2733"/>
                </a:solidFill>
                <a:latin typeface="Calibri" pitchFamily="34" charset="0"/>
                <a:ea typeface="Calibri" pitchFamily="34" charset="-122"/>
                <a:cs typeface="Calibri" pitchFamily="34" charset="-120"/>
              </a:rPr>
            </a:br>
            <a:endParaRPr lang="es-ES" sz="1250" dirty="0">
              <a:solidFill>
                <a:srgbClr val="1B2733"/>
              </a:solidFill>
              <a:latin typeface="Calibri" pitchFamily="34" charset="0"/>
              <a:ea typeface="Calibri" pitchFamily="34" charset="-122"/>
              <a:cs typeface="Calibri" pitchFamily="34" charset="-120"/>
            </a:endParaRPr>
          </a:p>
          <a:p>
            <a:pPr marL="0" indent="0">
              <a:buNone/>
            </a:pPr>
            <a:br>
              <a:rPr lang="es-ES" sz="1250" dirty="0">
                <a:solidFill>
                  <a:srgbClr val="1B2733"/>
                </a:solidFill>
                <a:latin typeface="Calibri" pitchFamily="34" charset="0"/>
                <a:ea typeface="Calibri" pitchFamily="34" charset="-122"/>
                <a:cs typeface="Calibri" pitchFamily="34" charset="-120"/>
              </a:rPr>
            </a:br>
            <a:endParaRPr lang="en-US" sz="1250" dirty="0"/>
          </a:p>
        </p:txBody>
      </p:sp>
    </p:spTree>
    <p:extLst>
      <p:ext uri="{BB962C8B-B14F-4D97-AF65-F5344CB8AC3E}">
        <p14:creationId xmlns:p14="http://schemas.microsoft.com/office/powerpoint/2010/main" val="2657880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PETERSON</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Peterson: comportamiento por estado</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3429000"/>
        </p:xfrm>
        <a:graphic>
          <a:graphicData uri="http://schemas.openxmlformats.org/drawingml/2006/table">
            <a:tbl>
              <a:tblPr/>
              <a:tblGrid>
                <a:gridCol w="31089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685800">
                <a:tc>
                  <a:txBody>
                    <a:bodyPr/>
                    <a:lstStyle/>
                    <a:p>
                      <a:pPr marL="0" indent="0">
                        <a:buNone/>
                      </a:pPr>
                      <a:r>
                        <a:rPr lang="en-US" sz="1400" b="1" dirty="0">
                          <a:solidFill>
                            <a:srgbClr val="FFFFFF"/>
                          </a:solidFill>
                          <a:latin typeface="Cambria" pitchFamily="34" charset="0"/>
                          <a:ea typeface="Cambria" pitchFamily="34" charset="-122"/>
                          <a:cs typeface="Cambria" pitchFamily="34" charset="-120"/>
                        </a:rPr>
                        <a:t>El otro quiere entrar</a:t>
                      </a:r>
                      <a:endParaRPr lang="en-US" sz="1400" dirty="0">
                        <a:latin typeface="Cambria" charset="0"/>
                        <a:ea typeface="Cambria" charset="0"/>
                        <a:cs typeface="Cambria"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latin typeface="Cambria" pitchFamily="34" charset="0"/>
                          <a:ea typeface="Cambria" pitchFamily="34" charset="-122"/>
                          <a:cs typeface="Cambria" pitchFamily="34" charset="-120"/>
                        </a:rPr>
                        <a:t>Es su turno</a:t>
                      </a:r>
                      <a:endParaRPr lang="en-US" sz="1400" dirty="0">
                        <a:latin typeface="Cambria" charset="0"/>
                        <a:ea typeface="Cambria" charset="0"/>
                        <a:cs typeface="Cambria"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latin typeface="Cambria" pitchFamily="34" charset="0"/>
                          <a:ea typeface="Cambria" pitchFamily="34" charset="-122"/>
                          <a:cs typeface="Cambria" pitchFamily="34" charset="-120"/>
                        </a:rPr>
                        <a:t>¿Espero?</a:t>
                      </a:r>
                      <a:endParaRPr lang="en-US" sz="1400" dirty="0">
                        <a:latin typeface="Cambria" charset="0"/>
                        <a:ea typeface="Cambria" charset="0"/>
                        <a:cs typeface="Cambria"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685800">
                <a:tc>
                  <a:txBody>
                    <a:bodyPr/>
                    <a:lstStyle/>
                    <a:p>
                      <a:pPr marL="0" indent="0">
                        <a:buNone/>
                      </a:pPr>
                      <a:r>
                        <a:rPr lang="en-US" sz="2200" b="1" dirty="0">
                          <a:solidFill>
                            <a:srgbClr val="0B1F3A"/>
                          </a:solidFill>
                          <a:latin typeface="Calibri" pitchFamily="34" charset="0"/>
                          <a:ea typeface="Calibri" pitchFamily="34" charset="-122"/>
                          <a:cs typeface="Calibri" pitchFamily="34" charset="-120"/>
                        </a:rPr>
                        <a:t>No</a:t>
                      </a:r>
                      <a:endParaRPr lang="en-US" sz="22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2200" dirty="0">
                          <a:solidFill>
                            <a:srgbClr val="1B2733"/>
                          </a:solidFill>
                          <a:latin typeface="Calibri" pitchFamily="34" charset="0"/>
                          <a:ea typeface="Calibri" pitchFamily="34" charset="-122"/>
                          <a:cs typeface="Calibri" pitchFamily="34" charset="-120"/>
                        </a:rPr>
                        <a:t>No</a:t>
                      </a:r>
                      <a:endParaRPr lang="en-US" sz="22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2200" dirty="0">
                          <a:solidFill>
                            <a:srgbClr val="1B2733"/>
                          </a:solidFill>
                          <a:latin typeface="Calibri" pitchFamily="34" charset="0"/>
                          <a:ea typeface="Calibri" pitchFamily="34" charset="-122"/>
                          <a:cs typeface="Calibri" pitchFamily="34" charset="-120"/>
                        </a:rPr>
                        <a:t>No</a:t>
                      </a:r>
                      <a:endParaRPr lang="en-US" sz="22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2200" b="1" dirty="0">
                          <a:solidFill>
                            <a:srgbClr val="0B1F3A"/>
                          </a:solidFill>
                          <a:latin typeface="Calibri" pitchFamily="34" charset="0"/>
                          <a:ea typeface="Calibri" pitchFamily="34" charset="-122"/>
                          <a:cs typeface="Calibri" pitchFamily="34" charset="-120"/>
                        </a:rPr>
                        <a:t>No</a:t>
                      </a:r>
                      <a:endParaRPr lang="en-US" sz="22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2200" dirty="0">
                          <a:solidFill>
                            <a:srgbClr val="1B2733"/>
                          </a:solidFill>
                          <a:latin typeface="Calibri" pitchFamily="34" charset="0"/>
                          <a:ea typeface="Calibri" pitchFamily="34" charset="-122"/>
                          <a:cs typeface="Calibri" pitchFamily="34" charset="-120"/>
                        </a:rPr>
                        <a:t>Sí</a:t>
                      </a:r>
                      <a:endParaRPr lang="en-US" sz="22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2200" dirty="0">
                          <a:solidFill>
                            <a:srgbClr val="1B2733"/>
                          </a:solidFill>
                          <a:latin typeface="Calibri" pitchFamily="34" charset="0"/>
                          <a:ea typeface="Calibri" pitchFamily="34" charset="-122"/>
                          <a:cs typeface="Calibri" pitchFamily="34" charset="-120"/>
                        </a:rPr>
                        <a:t>No</a:t>
                      </a:r>
                      <a:endParaRPr lang="en-US" sz="22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2200" b="1" dirty="0">
                          <a:solidFill>
                            <a:srgbClr val="0B1F3A"/>
                          </a:solidFill>
                          <a:latin typeface="Calibri" pitchFamily="34" charset="0"/>
                          <a:ea typeface="Calibri" pitchFamily="34" charset="-122"/>
                          <a:cs typeface="Calibri" pitchFamily="34" charset="-120"/>
                        </a:rPr>
                        <a:t>Sí</a:t>
                      </a:r>
                      <a:endParaRPr lang="en-US" sz="22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2200" dirty="0">
                          <a:solidFill>
                            <a:srgbClr val="1B2733"/>
                          </a:solidFill>
                          <a:latin typeface="Calibri" pitchFamily="34" charset="0"/>
                          <a:ea typeface="Calibri" pitchFamily="34" charset="-122"/>
                          <a:cs typeface="Calibri" pitchFamily="34" charset="-120"/>
                        </a:rPr>
                        <a:t>No</a:t>
                      </a:r>
                      <a:endParaRPr lang="en-US" sz="22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2200" dirty="0">
                          <a:solidFill>
                            <a:srgbClr val="1B2733"/>
                          </a:solidFill>
                          <a:latin typeface="Calibri" pitchFamily="34" charset="0"/>
                          <a:ea typeface="Calibri" pitchFamily="34" charset="-122"/>
                          <a:cs typeface="Calibri" pitchFamily="34" charset="-120"/>
                        </a:rPr>
                        <a:t>No</a:t>
                      </a:r>
                      <a:endParaRPr lang="en-US" sz="22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buNone/>
                      </a:pPr>
                      <a:r>
                        <a:rPr lang="en-US" sz="2200" b="1" dirty="0">
                          <a:solidFill>
                            <a:srgbClr val="0B1F3A"/>
                          </a:solidFill>
                          <a:latin typeface="Calibri" pitchFamily="34" charset="0"/>
                          <a:ea typeface="Calibri" pitchFamily="34" charset="-122"/>
                          <a:cs typeface="Calibri" pitchFamily="34" charset="-120"/>
                        </a:rPr>
                        <a:t>Sí</a:t>
                      </a:r>
                      <a:endParaRPr lang="en-US" sz="22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2200" dirty="0">
                          <a:solidFill>
                            <a:srgbClr val="1B2733"/>
                          </a:solidFill>
                          <a:latin typeface="Calibri" pitchFamily="34" charset="0"/>
                          <a:ea typeface="Calibri" pitchFamily="34" charset="-122"/>
                          <a:cs typeface="Calibri" pitchFamily="34" charset="-120"/>
                        </a:rPr>
                        <a:t>Sí</a:t>
                      </a:r>
                      <a:endParaRPr lang="en-US" sz="22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2200" dirty="0">
                          <a:solidFill>
                            <a:srgbClr val="1B2733"/>
                          </a:solidFill>
                          <a:latin typeface="Calibri" pitchFamily="34" charset="0"/>
                          <a:ea typeface="Calibri" pitchFamily="34" charset="-122"/>
                          <a:cs typeface="Calibri" pitchFamily="34" charset="-120"/>
                        </a:rPr>
                        <a:t>Sí</a:t>
                      </a:r>
                      <a:endParaRPr lang="en-US" sz="22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uadroTexto 5">
            <a:extLst>
              <a:ext uri="{FF2B5EF4-FFF2-40B4-BE49-F238E27FC236}">
                <a16:creationId xmlns:a16="http://schemas.microsoft.com/office/drawing/2014/main" id="{D1011616-613E-CCF6-87BC-7D5B59F3F229}"/>
              </a:ext>
            </a:extLst>
          </p:cNvPr>
          <p:cNvSpPr txBox="1"/>
          <p:nvPr/>
        </p:nvSpPr>
        <p:spPr>
          <a:xfrm>
            <a:off x="1322363" y="1095062"/>
            <a:ext cx="8046720" cy="276999"/>
          </a:xfrm>
          <a:prstGeom prst="rect">
            <a:avLst/>
          </a:prstGeom>
          <a:noFill/>
        </p:spPr>
        <p:txBody>
          <a:bodyPr wrap="square">
            <a:spAutoFit/>
          </a:bodyPr>
          <a:lstStyle/>
          <a:p>
            <a:pPr algn="just"/>
            <a:r>
              <a:rPr lang="en-US" sz="1200" b="0" i="0" u="none" strike="noStrike" dirty="0" err="1">
                <a:solidFill>
                  <a:srgbClr val="002060"/>
                </a:solidFill>
                <a:effectLst/>
                <a:latin typeface="+mn-lt"/>
              </a:rPr>
              <a:t>Aplicando</a:t>
            </a:r>
            <a:r>
              <a:rPr lang="en-US" sz="1200" b="0" i="0" u="none" strike="noStrike" dirty="0">
                <a:solidFill>
                  <a:srgbClr val="002060"/>
                </a:solidFill>
                <a:effectLst/>
                <a:latin typeface="+mn-lt"/>
              </a:rPr>
              <a:t> </a:t>
            </a:r>
            <a:r>
              <a:rPr lang="en-US" sz="1200" b="0" i="0" u="none" strike="noStrike" dirty="0" err="1">
                <a:solidFill>
                  <a:srgbClr val="002060"/>
                </a:solidFill>
                <a:effectLst/>
                <a:latin typeface="+mn-lt"/>
              </a:rPr>
              <a:t>estos</a:t>
            </a:r>
            <a:r>
              <a:rPr lang="en-US" sz="1200" b="0" i="0" u="none" strike="noStrike" dirty="0">
                <a:solidFill>
                  <a:srgbClr val="002060"/>
                </a:solidFill>
                <a:effectLst/>
                <a:latin typeface="+mn-lt"/>
              </a:rPr>
              <a:t> </a:t>
            </a:r>
            <a:r>
              <a:rPr lang="en-US" sz="1200" b="0" i="0" u="none" strike="noStrike" dirty="0" err="1">
                <a:solidFill>
                  <a:srgbClr val="002060"/>
                </a:solidFill>
                <a:effectLst/>
                <a:latin typeface="+mn-lt"/>
              </a:rPr>
              <a:t>criterios</a:t>
            </a:r>
            <a:r>
              <a:rPr lang="en-US" sz="1200" b="0" i="0" u="none" strike="noStrike" dirty="0">
                <a:solidFill>
                  <a:srgbClr val="002060"/>
                </a:solidFill>
                <a:effectLst/>
                <a:latin typeface="+mn-lt"/>
              </a:rPr>
              <a:t>, </a:t>
            </a:r>
            <a:r>
              <a:rPr lang="en-US" sz="1200" b="0" i="0" u="none" strike="noStrike" dirty="0" err="1">
                <a:solidFill>
                  <a:srgbClr val="002060"/>
                </a:solidFill>
                <a:effectLst/>
                <a:latin typeface="+mn-lt"/>
              </a:rPr>
              <a:t>tabla</a:t>
            </a:r>
            <a:r>
              <a:rPr lang="en-US" sz="1200" b="0" i="0" u="none" strike="noStrike" dirty="0">
                <a:solidFill>
                  <a:srgbClr val="002060"/>
                </a:solidFill>
                <a:effectLst/>
                <a:latin typeface="+mn-lt"/>
              </a:rPr>
              <a:t> para saber el </a:t>
            </a:r>
            <a:r>
              <a:rPr lang="en-US" sz="1200" b="0" i="0" u="none" strike="noStrike" dirty="0" err="1">
                <a:solidFill>
                  <a:srgbClr val="002060"/>
                </a:solidFill>
                <a:effectLst/>
                <a:latin typeface="+mn-lt"/>
              </a:rPr>
              <a:t>comportamiento</a:t>
            </a:r>
            <a:r>
              <a:rPr lang="en-US" sz="1200" b="0" i="0" u="none" strike="noStrike" dirty="0">
                <a:solidFill>
                  <a:srgbClr val="002060"/>
                </a:solidFill>
                <a:effectLst/>
                <a:latin typeface="+mn-lt"/>
              </a:rPr>
              <a:t> de un </a:t>
            </a:r>
            <a:r>
              <a:rPr lang="en-US" sz="1200" b="0" i="0" u="none" strike="noStrike" dirty="0" err="1">
                <a:solidFill>
                  <a:srgbClr val="002060"/>
                </a:solidFill>
                <a:effectLst/>
                <a:latin typeface="+mn-lt"/>
              </a:rPr>
              <a:t>proceso</a:t>
            </a:r>
            <a:r>
              <a:rPr lang="en-US" sz="1200" b="0" i="0" u="none" strike="noStrike" dirty="0">
                <a:solidFill>
                  <a:srgbClr val="002060"/>
                </a:solidFill>
                <a:effectLst/>
                <a:latin typeface="+mn-lt"/>
              </a:rPr>
              <a:t> para </a:t>
            </a:r>
            <a:r>
              <a:rPr lang="en-US" sz="1200" b="0" i="0" u="none" strike="noStrike" dirty="0" err="1">
                <a:solidFill>
                  <a:srgbClr val="002060"/>
                </a:solidFill>
                <a:effectLst/>
                <a:latin typeface="+mn-lt"/>
              </a:rPr>
              <a:t>cada</a:t>
            </a:r>
            <a:r>
              <a:rPr lang="en-US" sz="1200" b="0" i="0" u="none" strike="noStrike" dirty="0">
                <a:solidFill>
                  <a:srgbClr val="002060"/>
                </a:solidFill>
                <a:effectLst/>
                <a:latin typeface="+mn-lt"/>
              </a:rPr>
              <a:t> </a:t>
            </a:r>
            <a:r>
              <a:rPr lang="en-US" sz="1200" b="0" i="0" u="none" strike="noStrike" dirty="0" err="1">
                <a:solidFill>
                  <a:srgbClr val="002060"/>
                </a:solidFill>
                <a:effectLst/>
                <a:latin typeface="+mn-lt"/>
              </a:rPr>
              <a:t>estado</a:t>
            </a:r>
            <a:r>
              <a:rPr lang="en-US" sz="1200" b="0" i="0" u="none" strike="noStrike" dirty="0">
                <a:solidFill>
                  <a:srgbClr val="002060"/>
                </a:solidFill>
                <a:effectLst/>
                <a:latin typeface="+mn-lt"/>
              </a:rPr>
              <a:t> </a:t>
            </a:r>
            <a:r>
              <a:rPr lang="en-US" sz="1200" b="0" i="0" u="none" strike="noStrike" dirty="0" err="1">
                <a:solidFill>
                  <a:srgbClr val="002060"/>
                </a:solidFill>
                <a:effectLst/>
                <a:latin typeface="+mn-lt"/>
              </a:rPr>
              <a:t>posible</a:t>
            </a:r>
            <a:endParaRPr lang="en-US" sz="1200" dirty="0">
              <a:solidFill>
                <a:srgbClr val="00206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PETERSON</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Peterson: ejemplo en código</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15</a:t>
            </a:r>
            <a:endParaRPr lang="en-US" sz="1000" dirty="0"/>
          </a:p>
        </p:txBody>
      </p:sp>
      <p:pic>
        <p:nvPicPr>
          <p:cNvPr id="10" name="Imagen 9">
            <a:extLst>
              <a:ext uri="{FF2B5EF4-FFF2-40B4-BE49-F238E27FC236}">
                <a16:creationId xmlns:a16="http://schemas.microsoft.com/office/drawing/2014/main" id="{2FF5321F-43EE-7FFB-E30C-A88838883F12}"/>
              </a:ext>
            </a:extLst>
          </p:cNvPr>
          <p:cNvPicPr>
            <a:picLocks noChangeAspect="1"/>
          </p:cNvPicPr>
          <p:nvPr/>
        </p:nvPicPr>
        <p:blipFill>
          <a:blip r:embed="rId3"/>
          <a:stretch>
            <a:fillRect/>
          </a:stretch>
        </p:blipFill>
        <p:spPr>
          <a:xfrm>
            <a:off x="444166" y="1533984"/>
            <a:ext cx="8255668" cy="249640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CBF1F-1EC1-3A0F-BA22-D3FCFE52596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5C2A96-5A81-564B-80E0-D144964339BF}"/>
              </a:ext>
            </a:extLst>
          </p:cNvPr>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PETERSON</a:t>
            </a:r>
            <a:endParaRPr lang="en-US" sz="1100" dirty="0"/>
          </a:p>
        </p:txBody>
      </p:sp>
      <p:sp>
        <p:nvSpPr>
          <p:cNvPr id="4" name="Text 2">
            <a:extLst>
              <a:ext uri="{FF2B5EF4-FFF2-40B4-BE49-F238E27FC236}">
                <a16:creationId xmlns:a16="http://schemas.microsoft.com/office/drawing/2014/main" id="{01DAACC8-54F0-3024-5BFC-898AC55F1AD2}"/>
              </a:ext>
            </a:extLst>
          </p:cNvPr>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15</a:t>
            </a:r>
            <a:endParaRPr lang="en-US" sz="1000" dirty="0"/>
          </a:p>
        </p:txBody>
      </p:sp>
      <p:pic>
        <p:nvPicPr>
          <p:cNvPr id="5" name="Imagen 4">
            <a:extLst>
              <a:ext uri="{FF2B5EF4-FFF2-40B4-BE49-F238E27FC236}">
                <a16:creationId xmlns:a16="http://schemas.microsoft.com/office/drawing/2014/main" id="{F6F6F882-0F60-9A94-DFF3-02682A766D92}"/>
              </a:ext>
            </a:extLst>
          </p:cNvPr>
          <p:cNvPicPr>
            <a:picLocks noChangeAspect="1"/>
          </p:cNvPicPr>
          <p:nvPr/>
        </p:nvPicPr>
        <p:blipFill>
          <a:blip r:embed="rId3"/>
          <a:stretch>
            <a:fillRect/>
          </a:stretch>
        </p:blipFill>
        <p:spPr>
          <a:xfrm>
            <a:off x="1624818" y="78399"/>
            <a:ext cx="6604782" cy="2318234"/>
          </a:xfrm>
          <a:prstGeom prst="rect">
            <a:avLst/>
          </a:prstGeom>
        </p:spPr>
      </p:pic>
      <p:pic>
        <p:nvPicPr>
          <p:cNvPr id="6" name="Imagen 5">
            <a:extLst>
              <a:ext uri="{FF2B5EF4-FFF2-40B4-BE49-F238E27FC236}">
                <a16:creationId xmlns:a16="http://schemas.microsoft.com/office/drawing/2014/main" id="{E4CEB617-8148-6DF4-69B3-B1CCD6A9BC6A}"/>
              </a:ext>
            </a:extLst>
          </p:cNvPr>
          <p:cNvPicPr>
            <a:picLocks noChangeAspect="1"/>
          </p:cNvPicPr>
          <p:nvPr/>
        </p:nvPicPr>
        <p:blipFill>
          <a:blip r:embed="rId4"/>
          <a:stretch>
            <a:fillRect/>
          </a:stretch>
        </p:blipFill>
        <p:spPr>
          <a:xfrm>
            <a:off x="1624818" y="2483891"/>
            <a:ext cx="6604782" cy="2548441"/>
          </a:xfrm>
          <a:prstGeom prst="rect">
            <a:avLst/>
          </a:prstGeom>
        </p:spPr>
      </p:pic>
    </p:spTree>
    <p:extLst>
      <p:ext uri="{BB962C8B-B14F-4D97-AF65-F5344CB8AC3E}">
        <p14:creationId xmlns:p14="http://schemas.microsoft.com/office/powerpoint/2010/main" val="1220088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6F9"/>
        </a:solidFill>
        <a:effectLst/>
      </p:bgPr>
    </p:bg>
    <p:spTree>
      <p:nvGrpSpPr>
        <p:cNvPr id="1" name="">
          <a:extLst>
            <a:ext uri="{FF2B5EF4-FFF2-40B4-BE49-F238E27FC236}">
              <a16:creationId xmlns:a16="http://schemas.microsoft.com/office/drawing/2014/main" id="{C6DDAEA5-9E7E-F1C5-1DFD-D595D8E5BB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D964C1-6ABB-A475-E191-3FC11F41FEEC}"/>
              </a:ext>
            </a:extLst>
          </p:cNvPr>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PETERSON</a:t>
            </a:r>
            <a:endParaRPr lang="en-US" sz="1100" dirty="0"/>
          </a:p>
        </p:txBody>
      </p:sp>
      <p:sp>
        <p:nvSpPr>
          <p:cNvPr id="4" name="Text 2">
            <a:extLst>
              <a:ext uri="{FF2B5EF4-FFF2-40B4-BE49-F238E27FC236}">
                <a16:creationId xmlns:a16="http://schemas.microsoft.com/office/drawing/2014/main" id="{334F9242-9677-7750-6BB4-4CDACE267A05}"/>
              </a:ext>
            </a:extLst>
          </p:cNvPr>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15</a:t>
            </a:r>
            <a:endParaRPr lang="en-US" sz="1000" dirty="0"/>
          </a:p>
        </p:txBody>
      </p:sp>
      <p:pic>
        <p:nvPicPr>
          <p:cNvPr id="6" name="Imagen 5">
            <a:extLst>
              <a:ext uri="{FF2B5EF4-FFF2-40B4-BE49-F238E27FC236}">
                <a16:creationId xmlns:a16="http://schemas.microsoft.com/office/drawing/2014/main" id="{977BB4B8-BC57-40AF-4E77-0EFCF7271933}"/>
              </a:ext>
            </a:extLst>
          </p:cNvPr>
          <p:cNvPicPr>
            <a:picLocks noChangeAspect="1"/>
          </p:cNvPicPr>
          <p:nvPr/>
        </p:nvPicPr>
        <p:blipFill>
          <a:blip r:embed="rId3"/>
          <a:stretch>
            <a:fillRect/>
          </a:stretch>
        </p:blipFill>
        <p:spPr>
          <a:xfrm>
            <a:off x="323556" y="597877"/>
            <a:ext cx="8496888" cy="1062111"/>
          </a:xfrm>
          <a:prstGeom prst="rect">
            <a:avLst/>
          </a:prstGeom>
        </p:spPr>
      </p:pic>
      <p:pic>
        <p:nvPicPr>
          <p:cNvPr id="7" name="Imagen 6">
            <a:extLst>
              <a:ext uri="{FF2B5EF4-FFF2-40B4-BE49-F238E27FC236}">
                <a16:creationId xmlns:a16="http://schemas.microsoft.com/office/drawing/2014/main" id="{0AF00AB0-51A9-2014-4DA2-30D46AB9B473}"/>
              </a:ext>
            </a:extLst>
          </p:cNvPr>
          <p:cNvPicPr>
            <a:picLocks noChangeAspect="1"/>
          </p:cNvPicPr>
          <p:nvPr/>
        </p:nvPicPr>
        <p:blipFill>
          <a:blip r:embed="rId4"/>
          <a:stretch>
            <a:fillRect/>
          </a:stretch>
        </p:blipFill>
        <p:spPr>
          <a:xfrm>
            <a:off x="323555" y="1757298"/>
            <a:ext cx="8496889" cy="2900271"/>
          </a:xfrm>
          <a:prstGeom prst="rect">
            <a:avLst/>
          </a:prstGeom>
        </p:spPr>
      </p:pic>
    </p:spTree>
    <p:extLst>
      <p:ext uri="{BB962C8B-B14F-4D97-AF65-F5344CB8AC3E}">
        <p14:creationId xmlns:p14="http://schemas.microsoft.com/office/powerpoint/2010/main" val="2217092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92FEE-C41E-990E-EC52-8DD1731757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F269B2B-997D-E7C2-4593-B1ED0B7A4F4F}"/>
              </a:ext>
            </a:extLst>
          </p:cNvPr>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PETERSON</a:t>
            </a:r>
            <a:endParaRPr lang="en-US" sz="1100" dirty="0"/>
          </a:p>
        </p:txBody>
      </p:sp>
      <p:sp>
        <p:nvSpPr>
          <p:cNvPr id="4" name="Text 2">
            <a:extLst>
              <a:ext uri="{FF2B5EF4-FFF2-40B4-BE49-F238E27FC236}">
                <a16:creationId xmlns:a16="http://schemas.microsoft.com/office/drawing/2014/main" id="{A7592E0E-87DD-8866-87BB-E025967FA54D}"/>
              </a:ext>
            </a:extLst>
          </p:cNvPr>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15</a:t>
            </a:r>
            <a:endParaRPr lang="en-US" sz="1000" dirty="0"/>
          </a:p>
        </p:txBody>
      </p:sp>
      <p:pic>
        <p:nvPicPr>
          <p:cNvPr id="3" name="Imagen 2">
            <a:extLst>
              <a:ext uri="{FF2B5EF4-FFF2-40B4-BE49-F238E27FC236}">
                <a16:creationId xmlns:a16="http://schemas.microsoft.com/office/drawing/2014/main" id="{4AAA9BE3-E792-226F-A24E-B8E7DA61ADC3}"/>
              </a:ext>
            </a:extLst>
          </p:cNvPr>
          <p:cNvPicPr>
            <a:picLocks noChangeAspect="1"/>
          </p:cNvPicPr>
          <p:nvPr/>
        </p:nvPicPr>
        <p:blipFill>
          <a:blip r:embed="rId3"/>
          <a:stretch>
            <a:fillRect/>
          </a:stretch>
        </p:blipFill>
        <p:spPr>
          <a:xfrm>
            <a:off x="1469905" y="1166116"/>
            <a:ext cx="6464273" cy="3058509"/>
          </a:xfrm>
          <a:prstGeom prst="rect">
            <a:avLst/>
          </a:prstGeom>
        </p:spPr>
      </p:pic>
    </p:spTree>
    <p:extLst>
      <p:ext uri="{BB962C8B-B14F-4D97-AF65-F5344CB8AC3E}">
        <p14:creationId xmlns:p14="http://schemas.microsoft.com/office/powerpoint/2010/main" val="4039875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COMPARACIÓN</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Tabla comparativa (1/3)</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2939796"/>
        </p:xfrm>
        <a:graphic>
          <a:graphicData uri="http://schemas.openxmlformats.org/drawingml/2006/table">
            <a:tbl>
              <a:tblPr/>
              <a:tblGrid>
                <a:gridCol w="16459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640080">
                <a:tc>
                  <a:txBody>
                    <a:bodyPr/>
                    <a:lstStyle/>
                    <a:p>
                      <a:pPr marL="0" indent="0">
                        <a:buNone/>
                      </a:pPr>
                      <a:r>
                        <a:rPr lang="en-US" sz="1400" b="1" dirty="0">
                          <a:solidFill>
                            <a:srgbClr val="FFFFFF"/>
                          </a:solidFill>
                          <a:latin typeface="Cambria" pitchFamily="34" charset="0"/>
                          <a:ea typeface="Cambria" pitchFamily="34" charset="-122"/>
                          <a:cs typeface="Cambria" pitchFamily="34" charset="-120"/>
                        </a:rPr>
                        <a:t>Característica</a:t>
                      </a:r>
                      <a:endParaRPr lang="en-US" sz="1400" dirty="0">
                        <a:latin typeface="Cambria" charset="0"/>
                        <a:ea typeface="Cambria" charset="0"/>
                        <a:cs typeface="Cambria"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latin typeface="Cambria" pitchFamily="34" charset="0"/>
                          <a:ea typeface="Cambria" pitchFamily="34" charset="-122"/>
                          <a:cs typeface="Cambria" pitchFamily="34" charset="-120"/>
                        </a:rPr>
                        <a:t>Dekker</a:t>
                      </a:r>
                      <a:endParaRPr lang="en-US" sz="1400" dirty="0">
                        <a:latin typeface="Cambria" charset="0"/>
                        <a:ea typeface="Cambria" charset="0"/>
                        <a:cs typeface="Cambria"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latin typeface="Cambria" pitchFamily="34" charset="0"/>
                          <a:ea typeface="Cambria" pitchFamily="34" charset="-122"/>
                          <a:cs typeface="Cambria" pitchFamily="34" charset="-120"/>
                        </a:rPr>
                        <a:t>Peterson</a:t>
                      </a:r>
                      <a:endParaRPr lang="en-US" sz="1400" dirty="0">
                        <a:latin typeface="Cambria" charset="0"/>
                        <a:ea typeface="Cambria" charset="0"/>
                        <a:cs typeface="Cambria"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640080">
                <a:tc>
                  <a:txBody>
                    <a:bodyPr/>
                    <a:lstStyle/>
                    <a:p>
                      <a:pPr marL="0" indent="0">
                        <a:buNone/>
                      </a:pPr>
                      <a:r>
                        <a:rPr lang="en-US" sz="1350" b="1" dirty="0">
                          <a:solidFill>
                            <a:srgbClr val="0B1F3A"/>
                          </a:solidFill>
                          <a:latin typeface="Calibri" pitchFamily="34" charset="0"/>
                          <a:ea typeface="Calibri" pitchFamily="34" charset="-122"/>
                          <a:cs typeface="Calibri" pitchFamily="34" charset="-120"/>
                        </a:rPr>
                        <a:t>Autor y época</a:t>
                      </a:r>
                      <a:endParaRPr lang="en-US" sz="135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1350" dirty="0">
                          <a:solidFill>
                            <a:srgbClr val="1B2733"/>
                          </a:solidFill>
                          <a:latin typeface="Calibri" pitchFamily="34" charset="0"/>
                          <a:ea typeface="Calibri" pitchFamily="34" charset="-122"/>
                          <a:cs typeface="Calibri" pitchFamily="34" charset="-120"/>
                        </a:rPr>
                        <a:t>T.J. Dekker, años 60. Surgió del trabajo de Dijkstra.</a:t>
                      </a:r>
                      <a:endParaRPr lang="en-US" sz="135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1350" dirty="0">
                          <a:solidFill>
                            <a:srgbClr val="1B2733"/>
                          </a:solidFill>
                          <a:latin typeface="Calibri" pitchFamily="34" charset="0"/>
                          <a:ea typeface="Calibri" pitchFamily="34" charset="-122"/>
                          <a:cs typeface="Calibri" pitchFamily="34" charset="-120"/>
                        </a:rPr>
                        <a:t>Gary L. Peterson, 1981, en "Myths About the Mutual Exclusion Problem".</a:t>
                      </a:r>
                      <a:endParaRPr lang="en-US" sz="135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350" b="1" dirty="0">
                          <a:solidFill>
                            <a:srgbClr val="0B1F3A"/>
                          </a:solidFill>
                          <a:latin typeface="Calibri" pitchFamily="34" charset="0"/>
                          <a:ea typeface="Calibri" pitchFamily="34" charset="-122"/>
                          <a:cs typeface="Calibri" pitchFamily="34" charset="-120"/>
                        </a:rPr>
                        <a:t>Qué es</a:t>
                      </a:r>
                      <a:endParaRPr lang="en-US" sz="135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1350" dirty="0">
                          <a:solidFill>
                            <a:srgbClr val="1B2733"/>
                          </a:solidFill>
                          <a:latin typeface="Calibri" pitchFamily="34" charset="0"/>
                          <a:ea typeface="Calibri" pitchFamily="34" charset="-122"/>
                          <a:cs typeface="Calibri" pitchFamily="34" charset="-120"/>
                        </a:rPr>
                        <a:t>Resuelve el problema de la sección crítica. Primera solución correcta para dos procesos.</a:t>
                      </a:r>
                      <a:endParaRPr lang="en-US" sz="135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1350" dirty="0">
                          <a:solidFill>
                            <a:srgbClr val="1B2733"/>
                          </a:solidFill>
                          <a:latin typeface="Calibri" pitchFamily="34" charset="0"/>
                          <a:ea typeface="Calibri" pitchFamily="34" charset="-122"/>
                          <a:cs typeface="Calibri" pitchFamily="34" charset="-120"/>
                        </a:rPr>
                        <a:t>Garantiza la exclusión mutua entre dos procesos y evita condiciones de carrera.</a:t>
                      </a:r>
                      <a:endParaRPr lang="en-US" sz="135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1350" b="1" dirty="0">
                          <a:solidFill>
                            <a:srgbClr val="0B1F3A"/>
                          </a:solidFill>
                          <a:latin typeface="Calibri" pitchFamily="34" charset="0"/>
                          <a:ea typeface="Calibri" pitchFamily="34" charset="-122"/>
                          <a:cs typeface="Calibri" pitchFamily="34" charset="-120"/>
                        </a:rPr>
                        <a:t>Idea central</a:t>
                      </a:r>
                      <a:endParaRPr lang="en-US" sz="135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1350" dirty="0">
                          <a:solidFill>
                            <a:srgbClr val="1B2733"/>
                          </a:solidFill>
                          <a:latin typeface="Calibri" pitchFamily="34" charset="0"/>
                          <a:ea typeface="Calibri" pitchFamily="34" charset="-122"/>
                          <a:cs typeface="Calibri" pitchFamily="34" charset="-120"/>
                        </a:rPr>
                        <a:t>Con ambas banderas arriba, el turno desempata: quien no lo tiene baja su bandera y espera. Al salir, el ganador cede el turno.</a:t>
                      </a:r>
                      <a:endParaRPr lang="en-US" sz="135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1350" dirty="0">
                          <a:solidFill>
                            <a:srgbClr val="1B2733"/>
                          </a:solidFill>
                          <a:latin typeface="Calibri" pitchFamily="34" charset="0"/>
                          <a:ea typeface="Calibri" pitchFamily="34" charset="-122"/>
                          <a:cs typeface="Calibri" pitchFamily="34" charset="-120"/>
                        </a:rPr>
                        <a:t>Cortesía: cada proceso levanta su bandera y cede el turno al otro. Solo espera si el otro quiere entrar y es su turno.</a:t>
                      </a:r>
                      <a:endParaRPr lang="en-US" sz="135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COMPARACIÓN</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Tabla comparativa (2/3)</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3017520"/>
        </p:xfrm>
        <a:graphic>
          <a:graphicData uri="http://schemas.openxmlformats.org/drawingml/2006/table">
            <a:tbl>
              <a:tblPr/>
              <a:tblGrid>
                <a:gridCol w="16459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1005840">
                <a:tc>
                  <a:txBody>
                    <a:bodyPr/>
                    <a:lstStyle/>
                    <a:p>
                      <a:pPr marL="0" indent="0">
                        <a:buNone/>
                      </a:pPr>
                      <a:r>
                        <a:rPr lang="en-US" sz="1400" b="1" dirty="0">
                          <a:solidFill>
                            <a:srgbClr val="FFFFFF"/>
                          </a:solidFill>
                          <a:latin typeface="Cambria" pitchFamily="34" charset="0"/>
                          <a:ea typeface="Cambria" pitchFamily="34" charset="-122"/>
                          <a:cs typeface="Cambria" pitchFamily="34" charset="-120"/>
                        </a:rPr>
                        <a:t>Característica</a:t>
                      </a:r>
                      <a:endParaRPr lang="en-US" sz="1400" dirty="0">
                        <a:latin typeface="Cambria" charset="0"/>
                        <a:ea typeface="Cambria" charset="0"/>
                        <a:cs typeface="Cambria"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latin typeface="Cambria" pitchFamily="34" charset="0"/>
                          <a:ea typeface="Cambria" pitchFamily="34" charset="-122"/>
                          <a:cs typeface="Cambria" pitchFamily="34" charset="-120"/>
                        </a:rPr>
                        <a:t>Dekker</a:t>
                      </a:r>
                      <a:endParaRPr lang="en-US" sz="1400" dirty="0">
                        <a:latin typeface="Cambria" charset="0"/>
                        <a:ea typeface="Cambria" charset="0"/>
                        <a:cs typeface="Cambria"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latin typeface="Cambria" pitchFamily="34" charset="0"/>
                          <a:ea typeface="Cambria" pitchFamily="34" charset="-122"/>
                          <a:cs typeface="Cambria" pitchFamily="34" charset="-120"/>
                        </a:rPr>
                        <a:t>Peterson</a:t>
                      </a:r>
                      <a:endParaRPr lang="en-US" sz="1400" dirty="0">
                        <a:latin typeface="Cambria" charset="0"/>
                        <a:ea typeface="Cambria" charset="0"/>
                        <a:cs typeface="Cambria"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1005840">
                <a:tc>
                  <a:txBody>
                    <a:bodyPr/>
                    <a:lstStyle/>
                    <a:p>
                      <a:pPr marL="0" indent="0">
                        <a:buNone/>
                      </a:pPr>
                      <a:r>
                        <a:rPr lang="en-US" sz="1700" b="1" dirty="0">
                          <a:solidFill>
                            <a:srgbClr val="0B1F3A"/>
                          </a:solidFill>
                          <a:latin typeface="Calibri" pitchFamily="34" charset="0"/>
                          <a:ea typeface="Calibri" pitchFamily="34" charset="-122"/>
                          <a:cs typeface="Calibri" pitchFamily="34" charset="-120"/>
                        </a:rPr>
                        <a:t>Variables compartidas</a:t>
                      </a:r>
                      <a:endParaRPr lang="en-US" sz="17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1700" dirty="0">
                          <a:solidFill>
                            <a:srgbClr val="1B2733"/>
                          </a:solidFill>
                          <a:latin typeface="Calibri" pitchFamily="34" charset="0"/>
                          <a:ea typeface="Calibri" pitchFamily="34" charset="-122"/>
                          <a:cs typeface="Calibri" pitchFamily="34" charset="-120"/>
                        </a:rPr>
                        <a:t>Banderas booleanas y una variable de turno.</a:t>
                      </a:r>
                      <a:endParaRPr lang="en-US" sz="17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1700" dirty="0">
                          <a:solidFill>
                            <a:srgbClr val="1B2733"/>
                          </a:solidFill>
                          <a:latin typeface="Calibri" pitchFamily="34" charset="0"/>
                          <a:ea typeface="Calibri" pitchFamily="34" charset="-122"/>
                          <a:cs typeface="Calibri" pitchFamily="34" charset="-120"/>
                        </a:rPr>
                        <a:t>flag[2] (booleanos) y turn (entero, 0 o 1).</a:t>
                      </a:r>
                      <a:endParaRPr lang="en-US" sz="17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buNone/>
                      </a:pPr>
                      <a:r>
                        <a:rPr lang="en-US" sz="1700" b="1" dirty="0">
                          <a:solidFill>
                            <a:srgbClr val="0B1F3A"/>
                          </a:solidFill>
                          <a:latin typeface="Calibri" pitchFamily="34" charset="0"/>
                          <a:ea typeface="Calibri" pitchFamily="34" charset="-122"/>
                          <a:cs typeface="Calibri" pitchFamily="34" charset="-120"/>
                        </a:rPr>
                        <a:t>Cómo se desarrolló</a:t>
                      </a:r>
                      <a:endParaRPr lang="en-US" sz="17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1700" dirty="0">
                          <a:solidFill>
                            <a:srgbClr val="1B2733"/>
                          </a:solidFill>
                          <a:latin typeface="Calibri" pitchFamily="34" charset="0"/>
                          <a:ea typeface="Calibri" pitchFamily="34" charset="-122"/>
                          <a:cs typeface="Calibri" pitchFamily="34" charset="-120"/>
                        </a:rPr>
                        <a:t>5 versiones de prueba y error, hasta la que combina turno y banderas.</a:t>
                      </a:r>
                      <a:endParaRPr lang="en-US" sz="17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1700" dirty="0">
                          <a:solidFill>
                            <a:srgbClr val="1B2733"/>
                          </a:solidFill>
                          <a:latin typeface="Calibri" pitchFamily="34" charset="0"/>
                          <a:ea typeface="Calibri" pitchFamily="34" charset="-122"/>
                          <a:cs typeface="Calibri" pitchFamily="34" charset="-120"/>
                        </a:rPr>
                        <a:t>Respuesta más sencilla y formal que la de Dekker, sin versiones intermedias.</a:t>
                      </a:r>
                      <a:endParaRPr lang="en-US" sz="17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COMPARACIÓN</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Tabla comparativa (3/3)</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3206496"/>
        </p:xfrm>
        <a:graphic>
          <a:graphicData uri="http://schemas.openxmlformats.org/drawingml/2006/table">
            <a:tbl>
              <a:tblPr/>
              <a:tblGrid>
                <a:gridCol w="16459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38912">
                <a:tc>
                  <a:txBody>
                    <a:bodyPr/>
                    <a:lstStyle/>
                    <a:p>
                      <a:pPr marL="0" indent="0">
                        <a:buNone/>
                      </a:pPr>
                      <a:r>
                        <a:rPr lang="en-US" sz="1400" b="1" dirty="0">
                          <a:solidFill>
                            <a:srgbClr val="FFFFFF"/>
                          </a:solidFill>
                          <a:latin typeface="Cambria" pitchFamily="34" charset="0"/>
                          <a:ea typeface="Cambria" pitchFamily="34" charset="-122"/>
                          <a:cs typeface="Cambria" pitchFamily="34" charset="-120"/>
                        </a:rPr>
                        <a:t>Característica</a:t>
                      </a:r>
                      <a:endParaRPr lang="en-US" sz="1400" dirty="0">
                        <a:latin typeface="Cambria" charset="0"/>
                        <a:ea typeface="Cambria" charset="0"/>
                        <a:cs typeface="Cambria"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latin typeface="Cambria" pitchFamily="34" charset="0"/>
                          <a:ea typeface="Cambria" pitchFamily="34" charset="-122"/>
                          <a:cs typeface="Cambria" pitchFamily="34" charset="-120"/>
                        </a:rPr>
                        <a:t>Dekker</a:t>
                      </a:r>
                      <a:endParaRPr lang="en-US" sz="1400" dirty="0">
                        <a:latin typeface="Cambria" charset="0"/>
                        <a:ea typeface="Cambria" charset="0"/>
                        <a:cs typeface="Cambria"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latin typeface="Cambria" pitchFamily="34" charset="0"/>
                          <a:ea typeface="Cambria" pitchFamily="34" charset="-122"/>
                          <a:cs typeface="Cambria" pitchFamily="34" charset="-120"/>
                        </a:rPr>
                        <a:t>Peterson</a:t>
                      </a:r>
                      <a:endParaRPr lang="en-US" sz="1400" dirty="0">
                        <a:latin typeface="Cambria" charset="0"/>
                        <a:ea typeface="Cambria" charset="0"/>
                        <a:cs typeface="Cambria"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438912">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Condición de espera</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Solo el proceso sin turno baja su bandera y espera.</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Espera mientras la bandera del otro esté arriba y el turno sea del otro.</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Exclusión mutua</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Sí</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Progreso</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Sí (el sistema no se estanca)</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Sí (ningún proceso se bloquea indefinidamente)</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Espera acotada</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Sí (ningún proceso espera para siempre)</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Sí (el proceso en espera llegará a entrar)</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Número de procesos</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Complejidad</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E3EEF2"/>
                    </a:solidFill>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Alta: muy complejo y difícil de entender.</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Baja: más simple y fácil de entender.</a:t>
                      </a:r>
                      <a:endParaRPr lang="en-US" sz="1300" dirty="0">
                        <a:latin typeface="Calibri" charset="0"/>
                        <a:ea typeface="Calibri" charset="0"/>
                        <a:cs typeface="Calibri" charset="0"/>
                      </a:endParaRPr>
                    </a:p>
                  </a:txBody>
                  <a:tcPr marT="54864" marB="54864" anchor="ctr">
                    <a:lnL w="9525" cap="flat" cmpd="sng" algn="ctr">
                      <a:solidFill>
                        <a:srgbClr val="C9D4DD"/>
                      </a:solidFill>
                      <a:prstDash val="solid"/>
                      <a:round/>
                      <a:headEnd type="none" w="med" len="med"/>
                      <a:tailEnd type="none" w="med" len="med"/>
                    </a:lnL>
                    <a:lnR w="9525" cap="flat" cmpd="sng" algn="ctr">
                      <a:solidFill>
                        <a:srgbClr val="C9D4DD"/>
                      </a:solidFill>
                      <a:prstDash val="solid"/>
                      <a:round/>
                      <a:headEnd type="none" w="med" len="med"/>
                      <a:tailEnd type="none" w="med" len="med"/>
                    </a:lnR>
                    <a:lnT w="9525" cap="flat" cmpd="sng" algn="ctr">
                      <a:solidFill>
                        <a:srgbClr val="C9D4DD"/>
                      </a:solidFill>
                      <a:prstDash val="solid"/>
                      <a:round/>
                      <a:headEnd type="none" w="med" len="med"/>
                      <a:tailEnd type="none" w="med" len="med"/>
                    </a:lnT>
                    <a:lnB w="9525" cap="flat" cmpd="sng" algn="ctr">
                      <a:solidFill>
                        <a:srgbClr val="C9D4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ALTERNATIVAS DE ALGORITMOS</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Software: más de 2 procesos</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19</a:t>
            </a:r>
            <a:endParaRPr lang="en-US" sz="1000" dirty="0"/>
          </a:p>
        </p:txBody>
      </p:sp>
      <p:sp>
        <p:nvSpPr>
          <p:cNvPr id="5" name="Shape 3"/>
          <p:cNvSpPr/>
          <p:nvPr/>
        </p:nvSpPr>
        <p:spPr>
          <a:xfrm>
            <a:off x="548640" y="1371600"/>
            <a:ext cx="3931920" cy="1463040"/>
          </a:xfrm>
          <a:prstGeom prst="roundRect">
            <a:avLst>
              <a:gd name="adj" fmla="val 6250"/>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6" name="Text 4"/>
          <p:cNvSpPr txBox="1"/>
          <p:nvPr/>
        </p:nvSpPr>
        <p:spPr>
          <a:xfrm>
            <a:off x="731520" y="1508760"/>
            <a:ext cx="356616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Algoritmo de la panadería (Lamport)</a:t>
            </a:r>
            <a:endParaRPr lang="en-US" sz="1500" dirty="0"/>
          </a:p>
        </p:txBody>
      </p:sp>
      <p:sp>
        <p:nvSpPr>
          <p:cNvPr id="7" name="Text 5"/>
          <p:cNvSpPr txBox="1"/>
          <p:nvPr/>
        </p:nvSpPr>
        <p:spPr>
          <a:xfrm>
            <a:off x="777240" y="2057400"/>
            <a:ext cx="3474720" cy="640080"/>
          </a:xfrm>
          <a:prstGeom prst="rect">
            <a:avLst/>
          </a:prstGeom>
          <a:noFill/>
          <a:ln/>
        </p:spPr>
        <p:txBody>
          <a:bodyPr wrap="square" lIns="0" tIns="0" rIns="0" bIns="0" rtlCol="0" anchor="t"/>
          <a:lstStyle/>
          <a:p>
            <a:pPr marL="0" indent="0">
              <a:buNone/>
            </a:pPr>
            <a:r>
              <a:rPr lang="en-US" sz="1250" dirty="0">
                <a:solidFill>
                  <a:srgbClr val="1B2733"/>
                </a:solidFill>
                <a:latin typeface="Calibri" pitchFamily="34" charset="0"/>
                <a:ea typeface="Calibri" pitchFamily="34" charset="-122"/>
                <a:cs typeface="Calibri" pitchFamily="34" charset="-120"/>
              </a:rPr>
              <a:t>Cada proceso toma un número de turno, como en una panadería, y entra el de número menor. Sirve para N procesos.</a:t>
            </a:r>
            <a:endParaRPr lang="en-US" sz="1250" dirty="0"/>
          </a:p>
        </p:txBody>
      </p:sp>
      <p:sp>
        <p:nvSpPr>
          <p:cNvPr id="8" name="Shape 6"/>
          <p:cNvSpPr/>
          <p:nvPr/>
        </p:nvSpPr>
        <p:spPr>
          <a:xfrm>
            <a:off x="4663440" y="1371600"/>
            <a:ext cx="3931920" cy="1463040"/>
          </a:xfrm>
          <a:prstGeom prst="roundRect">
            <a:avLst>
              <a:gd name="adj" fmla="val 6250"/>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9" name="Text 7"/>
          <p:cNvSpPr txBox="1"/>
          <p:nvPr/>
        </p:nvSpPr>
        <p:spPr>
          <a:xfrm>
            <a:off x="4846320" y="1508760"/>
            <a:ext cx="356616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Eisenberg y McGuire</a:t>
            </a:r>
            <a:endParaRPr lang="en-US" sz="1500" dirty="0"/>
          </a:p>
        </p:txBody>
      </p:sp>
      <p:sp>
        <p:nvSpPr>
          <p:cNvPr id="10" name="Text 8"/>
          <p:cNvSpPr txBox="1"/>
          <p:nvPr/>
        </p:nvSpPr>
        <p:spPr>
          <a:xfrm>
            <a:off x="4892040" y="2057400"/>
            <a:ext cx="3474720" cy="640080"/>
          </a:xfrm>
          <a:prstGeom prst="rect">
            <a:avLst/>
          </a:prstGeom>
          <a:noFill/>
          <a:ln/>
        </p:spPr>
        <p:txBody>
          <a:bodyPr wrap="square" lIns="0" tIns="0" rIns="0" bIns="0" rtlCol="0" anchor="t"/>
          <a:lstStyle/>
          <a:p>
            <a:pPr marL="0" indent="0">
              <a:buNone/>
            </a:pPr>
            <a:r>
              <a:rPr lang="en-US" sz="1250" dirty="0">
                <a:solidFill>
                  <a:srgbClr val="1B2733"/>
                </a:solidFill>
                <a:latin typeface="Calibri" pitchFamily="34" charset="0"/>
                <a:ea typeface="Calibri" pitchFamily="34" charset="-122"/>
                <a:cs typeface="Calibri" pitchFamily="34" charset="-120"/>
              </a:rPr>
              <a:t>Generalización de Dekker para N procesos.</a:t>
            </a:r>
            <a:endParaRPr lang="en-US" sz="1250" dirty="0"/>
          </a:p>
        </p:txBody>
      </p:sp>
      <p:sp>
        <p:nvSpPr>
          <p:cNvPr id="11" name="Shape 9"/>
          <p:cNvSpPr/>
          <p:nvPr/>
        </p:nvSpPr>
        <p:spPr>
          <a:xfrm>
            <a:off x="548640" y="2971800"/>
            <a:ext cx="3931920" cy="1463040"/>
          </a:xfrm>
          <a:prstGeom prst="roundRect">
            <a:avLst>
              <a:gd name="adj" fmla="val 6250"/>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2" name="Text 10"/>
          <p:cNvSpPr txBox="1"/>
          <p:nvPr/>
        </p:nvSpPr>
        <p:spPr>
          <a:xfrm>
            <a:off x="731520" y="3108960"/>
            <a:ext cx="356616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Algoritmo de filtro</a:t>
            </a:r>
            <a:endParaRPr lang="en-US" sz="1500" dirty="0"/>
          </a:p>
        </p:txBody>
      </p:sp>
      <p:sp>
        <p:nvSpPr>
          <p:cNvPr id="13" name="Text 11"/>
          <p:cNvSpPr txBox="1"/>
          <p:nvPr/>
        </p:nvSpPr>
        <p:spPr>
          <a:xfrm>
            <a:off x="777240" y="3657600"/>
            <a:ext cx="3474720" cy="640080"/>
          </a:xfrm>
          <a:prstGeom prst="rect">
            <a:avLst/>
          </a:prstGeom>
          <a:noFill/>
          <a:ln/>
        </p:spPr>
        <p:txBody>
          <a:bodyPr wrap="square" lIns="0" tIns="0" rIns="0" bIns="0" rtlCol="0" anchor="t"/>
          <a:lstStyle/>
          <a:p>
            <a:pPr marL="0" indent="0">
              <a:buNone/>
            </a:pPr>
            <a:r>
              <a:rPr lang="en-US" sz="1250" dirty="0">
                <a:solidFill>
                  <a:srgbClr val="1B2733"/>
                </a:solidFill>
                <a:latin typeface="Calibri" pitchFamily="34" charset="0"/>
                <a:ea typeface="Calibri" pitchFamily="34" charset="-122"/>
                <a:cs typeface="Calibri" pitchFamily="34" charset="-120"/>
              </a:rPr>
              <a:t>Extiende Peterson a N procesos con varios niveles de espera. Generalización de Peterson.</a:t>
            </a:r>
            <a:endParaRPr lang="en-US" sz="1250" dirty="0"/>
          </a:p>
        </p:txBody>
      </p:sp>
      <p:sp>
        <p:nvSpPr>
          <p:cNvPr id="14" name="Shape 12"/>
          <p:cNvSpPr/>
          <p:nvPr/>
        </p:nvSpPr>
        <p:spPr>
          <a:xfrm>
            <a:off x="4663440" y="2971800"/>
            <a:ext cx="3931920" cy="1463040"/>
          </a:xfrm>
          <a:prstGeom prst="roundRect">
            <a:avLst>
              <a:gd name="adj" fmla="val 6250"/>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5" name="Text 13"/>
          <p:cNvSpPr txBox="1"/>
          <p:nvPr/>
        </p:nvSpPr>
        <p:spPr>
          <a:xfrm>
            <a:off x="4846320" y="3108960"/>
            <a:ext cx="356616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Algoritmo de Szymanski</a:t>
            </a:r>
            <a:endParaRPr lang="en-US" sz="1500" dirty="0"/>
          </a:p>
        </p:txBody>
      </p:sp>
      <p:sp>
        <p:nvSpPr>
          <p:cNvPr id="16" name="Text 14"/>
          <p:cNvSpPr txBox="1"/>
          <p:nvPr/>
        </p:nvSpPr>
        <p:spPr>
          <a:xfrm>
            <a:off x="4892040" y="3657600"/>
            <a:ext cx="3474720" cy="640080"/>
          </a:xfrm>
          <a:prstGeom prst="rect">
            <a:avLst/>
          </a:prstGeom>
          <a:noFill/>
          <a:ln/>
        </p:spPr>
        <p:txBody>
          <a:bodyPr wrap="square" lIns="0" tIns="0" rIns="0" bIns="0" rtlCol="0" anchor="t"/>
          <a:lstStyle/>
          <a:p>
            <a:pPr marL="0" indent="0">
              <a:buNone/>
            </a:pPr>
            <a:r>
              <a:rPr lang="en-US" sz="1250" dirty="0">
                <a:solidFill>
                  <a:srgbClr val="1B2733"/>
                </a:solidFill>
                <a:latin typeface="Calibri" pitchFamily="34" charset="0"/>
                <a:ea typeface="Calibri" pitchFamily="34" charset="-122"/>
                <a:cs typeface="Calibri" pitchFamily="34" charset="-120"/>
              </a:rPr>
              <a:t>Solución para N procesos con espera lineal.</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5486400" cy="274320"/>
          </a:xfrm>
          <a:prstGeom prst="rect">
            <a:avLst/>
          </a:prstGeom>
          <a:noFill/>
          <a:ln/>
        </p:spPr>
        <p:txBody>
          <a:bodyPr wrap="square" lIns="0" tIns="0" rIns="0" bIns="0" rtlCol="0" anchor="ctr"/>
          <a:lstStyle/>
          <a:p>
            <a:pPr marL="0" indent="0">
              <a:buNone/>
            </a:pPr>
            <a:r>
              <a:rPr lang="en-US" sz="1100" b="1" kern="0" spc="300" dirty="0">
                <a:solidFill>
                  <a:srgbClr val="0E7C86"/>
                </a:solidFill>
                <a:latin typeface="Calibri" pitchFamily="34" charset="0"/>
                <a:ea typeface="Calibri" pitchFamily="34" charset="-122"/>
                <a:cs typeface="Calibri" pitchFamily="34" charset="-120"/>
              </a:rPr>
              <a:t>ALTERNATIVAS DE ALGORITMOS</a:t>
            </a:r>
            <a:endParaRPr lang="en-US" sz="1100" dirty="0"/>
          </a:p>
        </p:txBody>
      </p:sp>
      <p:sp>
        <p:nvSpPr>
          <p:cNvPr id="3" name="Text 1"/>
          <p:cNvSpPr txBox="1"/>
          <p:nvPr/>
        </p:nvSpPr>
        <p:spPr>
          <a:xfrm>
            <a:off x="548640" y="548640"/>
            <a:ext cx="8046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Sistema operativo o lenguaje</a:t>
            </a:r>
            <a:endParaRPr lang="en-US" sz="3000" dirty="0"/>
          </a:p>
        </p:txBody>
      </p:sp>
      <p:sp>
        <p:nvSpPr>
          <p:cNvPr id="4" name="Text 2"/>
          <p:cNvSpPr txBox="1"/>
          <p:nvPr/>
        </p:nvSpPr>
        <p:spPr>
          <a:xfrm>
            <a:off x="8229600" y="4754880"/>
            <a:ext cx="365760" cy="228600"/>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21</a:t>
            </a:r>
            <a:endParaRPr lang="en-US" sz="1000" dirty="0"/>
          </a:p>
        </p:txBody>
      </p:sp>
      <p:sp>
        <p:nvSpPr>
          <p:cNvPr id="5" name="Shape 3"/>
          <p:cNvSpPr/>
          <p:nvPr/>
        </p:nvSpPr>
        <p:spPr>
          <a:xfrm>
            <a:off x="548640" y="1234440"/>
            <a:ext cx="3931920" cy="1188720"/>
          </a:xfrm>
          <a:prstGeom prst="roundRect">
            <a:avLst>
              <a:gd name="adj" fmla="val 7692"/>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6" name="Text 4"/>
          <p:cNvSpPr txBox="1"/>
          <p:nvPr/>
        </p:nvSpPr>
        <p:spPr>
          <a:xfrm>
            <a:off x="731520" y="1371600"/>
            <a:ext cx="3566160" cy="502920"/>
          </a:xfrm>
          <a:prstGeom prst="rect">
            <a:avLst/>
          </a:prstGeom>
          <a:noFill/>
          <a:ln/>
        </p:spPr>
        <p:txBody>
          <a:bodyPr wrap="square" lIns="0" tIns="0" rIns="0" bIns="0" rtlCol="0" anchor="ctr"/>
          <a:lstStyle/>
          <a:p>
            <a:pPr marL="0" indent="0">
              <a:buNone/>
            </a:pPr>
            <a:r>
              <a:rPr lang="en-US" sz="1400" b="1" dirty="0">
                <a:solidFill>
                  <a:srgbClr val="0B1F3A"/>
                </a:solidFill>
                <a:latin typeface="Cambria" pitchFamily="34" charset="0"/>
                <a:ea typeface="Cambria" pitchFamily="34" charset="-122"/>
                <a:cs typeface="Cambria" pitchFamily="34" charset="-120"/>
              </a:rPr>
              <a:t>Semáforos (Dijkstra)</a:t>
            </a:r>
            <a:endParaRPr lang="en-US" sz="1400" dirty="0"/>
          </a:p>
        </p:txBody>
      </p:sp>
      <p:sp>
        <p:nvSpPr>
          <p:cNvPr id="7" name="Text 5"/>
          <p:cNvSpPr txBox="1"/>
          <p:nvPr/>
        </p:nvSpPr>
        <p:spPr>
          <a:xfrm>
            <a:off x="777240" y="1920240"/>
            <a:ext cx="3474720" cy="365760"/>
          </a:xfrm>
          <a:prstGeom prst="rect">
            <a:avLst/>
          </a:prstGeom>
          <a:noFill/>
          <a:ln/>
        </p:spPr>
        <p:txBody>
          <a:bodyPr wrap="square" lIns="0" tIns="0" rIns="0" bIns="0" rtlCol="0" anchor="t"/>
          <a:lstStyle/>
          <a:p>
            <a:pPr marL="0" indent="0">
              <a:buNone/>
            </a:pPr>
            <a:r>
              <a:rPr lang="en-US" sz="1150" dirty="0">
                <a:solidFill>
                  <a:srgbClr val="1B2733"/>
                </a:solidFill>
                <a:latin typeface="Calibri" pitchFamily="34" charset="0"/>
                <a:ea typeface="Calibri" pitchFamily="34" charset="-122"/>
                <a:cs typeface="Calibri" pitchFamily="34" charset="-120"/>
              </a:rPr>
              <a:t>Variable entera con operaciones atómicas wait y signal. El proceso se bloquea en lugar de esperar activamente.</a:t>
            </a:r>
            <a:endParaRPr lang="en-US" sz="1150" dirty="0"/>
          </a:p>
        </p:txBody>
      </p:sp>
      <p:sp>
        <p:nvSpPr>
          <p:cNvPr id="8" name="Shape 6"/>
          <p:cNvSpPr/>
          <p:nvPr/>
        </p:nvSpPr>
        <p:spPr>
          <a:xfrm>
            <a:off x="4663440" y="1234440"/>
            <a:ext cx="3931920" cy="1188720"/>
          </a:xfrm>
          <a:prstGeom prst="roundRect">
            <a:avLst>
              <a:gd name="adj" fmla="val 7692"/>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9" name="Text 7"/>
          <p:cNvSpPr txBox="1"/>
          <p:nvPr/>
        </p:nvSpPr>
        <p:spPr>
          <a:xfrm>
            <a:off x="4846320" y="1371600"/>
            <a:ext cx="3566160" cy="502920"/>
          </a:xfrm>
          <a:prstGeom prst="rect">
            <a:avLst/>
          </a:prstGeom>
          <a:noFill/>
          <a:ln/>
        </p:spPr>
        <p:txBody>
          <a:bodyPr wrap="square" lIns="0" tIns="0" rIns="0" bIns="0" rtlCol="0" anchor="ctr"/>
          <a:lstStyle/>
          <a:p>
            <a:pPr marL="0" indent="0">
              <a:buNone/>
            </a:pPr>
            <a:r>
              <a:rPr lang="en-US" sz="1400" b="1" dirty="0">
                <a:solidFill>
                  <a:srgbClr val="0B1F3A"/>
                </a:solidFill>
                <a:latin typeface="Cambria" pitchFamily="34" charset="0"/>
                <a:ea typeface="Cambria" pitchFamily="34" charset="-122"/>
                <a:cs typeface="Cambria" pitchFamily="34" charset="-120"/>
              </a:rPr>
              <a:t>Mutex (cerrojos)</a:t>
            </a:r>
            <a:endParaRPr lang="en-US" sz="1400" dirty="0"/>
          </a:p>
        </p:txBody>
      </p:sp>
      <p:sp>
        <p:nvSpPr>
          <p:cNvPr id="10" name="Text 8"/>
          <p:cNvSpPr txBox="1"/>
          <p:nvPr/>
        </p:nvSpPr>
        <p:spPr>
          <a:xfrm>
            <a:off x="4892040" y="1920240"/>
            <a:ext cx="3474720" cy="365760"/>
          </a:xfrm>
          <a:prstGeom prst="rect">
            <a:avLst/>
          </a:prstGeom>
          <a:noFill/>
          <a:ln/>
        </p:spPr>
        <p:txBody>
          <a:bodyPr wrap="square" lIns="0" tIns="0" rIns="0" bIns="0" rtlCol="0" anchor="t"/>
          <a:lstStyle/>
          <a:p>
            <a:pPr marL="0" indent="0">
              <a:buNone/>
            </a:pPr>
            <a:r>
              <a:rPr lang="en-US" sz="1150" dirty="0">
                <a:solidFill>
                  <a:srgbClr val="1B2733"/>
                </a:solidFill>
                <a:latin typeface="Calibri" pitchFamily="34" charset="0"/>
                <a:ea typeface="Calibri" pitchFamily="34" charset="-122"/>
                <a:cs typeface="Calibri" pitchFamily="34" charset="-120"/>
              </a:rPr>
              <a:t>Semáforo binario para exclusión mutua.</a:t>
            </a:r>
            <a:endParaRPr lang="en-US" sz="1150" dirty="0"/>
          </a:p>
        </p:txBody>
      </p:sp>
      <p:sp>
        <p:nvSpPr>
          <p:cNvPr id="11" name="Shape 9"/>
          <p:cNvSpPr/>
          <p:nvPr/>
        </p:nvSpPr>
        <p:spPr>
          <a:xfrm>
            <a:off x="548640" y="2560320"/>
            <a:ext cx="3931920" cy="1188720"/>
          </a:xfrm>
          <a:prstGeom prst="roundRect">
            <a:avLst>
              <a:gd name="adj" fmla="val 7692"/>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2" name="Text 10"/>
          <p:cNvSpPr txBox="1"/>
          <p:nvPr/>
        </p:nvSpPr>
        <p:spPr>
          <a:xfrm>
            <a:off x="731520" y="2591970"/>
            <a:ext cx="3566160" cy="502920"/>
          </a:xfrm>
          <a:prstGeom prst="rect">
            <a:avLst/>
          </a:prstGeom>
          <a:noFill/>
          <a:ln/>
        </p:spPr>
        <p:txBody>
          <a:bodyPr wrap="square" lIns="0" tIns="0" rIns="0" bIns="0" rtlCol="0" anchor="ctr"/>
          <a:lstStyle/>
          <a:p>
            <a:pPr marL="0" indent="0">
              <a:buNone/>
            </a:pPr>
            <a:r>
              <a:rPr lang="en-US" sz="1400" b="1" dirty="0">
                <a:solidFill>
                  <a:srgbClr val="0B1F3A"/>
                </a:solidFill>
                <a:latin typeface="Cambria" pitchFamily="34" charset="0"/>
                <a:ea typeface="Cambria" pitchFamily="34" charset="-122"/>
                <a:cs typeface="Cambria" pitchFamily="34" charset="-120"/>
              </a:rPr>
              <a:t>Monitores</a:t>
            </a:r>
            <a:endParaRPr lang="en-US" sz="1400" dirty="0"/>
          </a:p>
        </p:txBody>
      </p:sp>
      <p:sp>
        <p:nvSpPr>
          <p:cNvPr id="13" name="Text 11"/>
          <p:cNvSpPr txBox="1"/>
          <p:nvPr/>
        </p:nvSpPr>
        <p:spPr>
          <a:xfrm>
            <a:off x="777240" y="3042137"/>
            <a:ext cx="3474720" cy="365760"/>
          </a:xfrm>
          <a:prstGeom prst="rect">
            <a:avLst/>
          </a:prstGeom>
          <a:noFill/>
          <a:ln/>
        </p:spPr>
        <p:txBody>
          <a:bodyPr wrap="square" lIns="0" tIns="0" rIns="0" bIns="0" rtlCol="0" anchor="t"/>
          <a:lstStyle/>
          <a:p>
            <a:pPr marL="0" indent="0">
              <a:buNone/>
            </a:pPr>
            <a:r>
              <a:rPr lang="en-US" sz="1150" dirty="0">
                <a:solidFill>
                  <a:srgbClr val="1B2733"/>
                </a:solidFill>
                <a:latin typeface="Calibri" pitchFamily="34" charset="0"/>
                <a:ea typeface="Calibri" pitchFamily="34" charset="-122"/>
                <a:cs typeface="Calibri" pitchFamily="34" charset="-120"/>
              </a:rPr>
              <a:t>Estructura de alto nivel que agrupa datos y procedimientos; solo permite un proceso activo dentro a la vez.</a:t>
            </a:r>
            <a:endParaRPr lang="en-US" sz="1150" dirty="0"/>
          </a:p>
        </p:txBody>
      </p:sp>
      <p:sp>
        <p:nvSpPr>
          <p:cNvPr id="14" name="Shape 12"/>
          <p:cNvSpPr/>
          <p:nvPr/>
        </p:nvSpPr>
        <p:spPr>
          <a:xfrm>
            <a:off x="4663440" y="2560320"/>
            <a:ext cx="3931920" cy="1188720"/>
          </a:xfrm>
          <a:prstGeom prst="roundRect">
            <a:avLst>
              <a:gd name="adj" fmla="val 7692"/>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5" name="Text 13"/>
          <p:cNvSpPr txBox="1"/>
          <p:nvPr/>
        </p:nvSpPr>
        <p:spPr>
          <a:xfrm>
            <a:off x="4846320" y="2542732"/>
            <a:ext cx="3566160" cy="502920"/>
          </a:xfrm>
          <a:prstGeom prst="rect">
            <a:avLst/>
          </a:prstGeom>
          <a:noFill/>
          <a:ln/>
        </p:spPr>
        <p:txBody>
          <a:bodyPr wrap="square" lIns="0" tIns="0" rIns="0" bIns="0" rtlCol="0" anchor="ctr"/>
          <a:lstStyle/>
          <a:p>
            <a:pPr marL="0" indent="0">
              <a:buNone/>
            </a:pPr>
            <a:r>
              <a:rPr lang="en-US" sz="1400" b="1" dirty="0">
                <a:solidFill>
                  <a:srgbClr val="0B1F3A"/>
                </a:solidFill>
                <a:latin typeface="Cambria" pitchFamily="34" charset="0"/>
                <a:ea typeface="Cambria" pitchFamily="34" charset="-122"/>
                <a:cs typeface="Cambria" pitchFamily="34" charset="-120"/>
              </a:rPr>
              <a:t>Paso de mensajes</a:t>
            </a:r>
            <a:endParaRPr lang="en-US" sz="1400" dirty="0"/>
          </a:p>
        </p:txBody>
      </p:sp>
      <p:sp>
        <p:nvSpPr>
          <p:cNvPr id="16" name="Text 14"/>
          <p:cNvSpPr txBox="1"/>
          <p:nvPr/>
        </p:nvSpPr>
        <p:spPr>
          <a:xfrm>
            <a:off x="4892040" y="3070270"/>
            <a:ext cx="3474720" cy="365760"/>
          </a:xfrm>
          <a:prstGeom prst="rect">
            <a:avLst/>
          </a:prstGeom>
          <a:noFill/>
          <a:ln/>
        </p:spPr>
        <p:txBody>
          <a:bodyPr wrap="square" lIns="0" tIns="0" rIns="0" bIns="0" rtlCol="0" anchor="t"/>
          <a:lstStyle/>
          <a:p>
            <a:pPr marL="0" indent="0">
              <a:buNone/>
            </a:pPr>
            <a:r>
              <a:rPr lang="en-US" sz="1150" dirty="0">
                <a:solidFill>
                  <a:srgbClr val="1B2733"/>
                </a:solidFill>
                <a:latin typeface="Calibri" pitchFamily="34" charset="0"/>
                <a:ea typeface="Calibri" pitchFamily="34" charset="-122"/>
                <a:cs typeface="Calibri" pitchFamily="34" charset="-120"/>
              </a:rPr>
              <a:t>Los procesos se coordinan enviando y recibiendo mensajes (send y receive).</a:t>
            </a:r>
            <a:endParaRPr lang="en-US" sz="1150" dirty="0"/>
          </a:p>
        </p:txBody>
      </p:sp>
      <p:sp>
        <p:nvSpPr>
          <p:cNvPr id="17" name="Shape 15"/>
          <p:cNvSpPr/>
          <p:nvPr/>
        </p:nvSpPr>
        <p:spPr>
          <a:xfrm>
            <a:off x="548640" y="3840480"/>
            <a:ext cx="8046720" cy="822960"/>
          </a:xfrm>
          <a:prstGeom prst="roundRect">
            <a:avLst>
              <a:gd name="adj" fmla="val 11111"/>
            </a:avLst>
          </a:prstGeom>
          <a:solidFill>
            <a:srgbClr val="FFFFFF"/>
          </a:solidFill>
          <a:ln/>
          <a:effectLst>
            <a:outerShdw blurRad="76200" dist="25400" dir="5400000" algn="bl" rotWithShape="0">
              <a:srgbClr val="000000">
                <a:alpha val="15000"/>
              </a:srgbClr>
            </a:outerShdw>
          </a:effectLst>
        </p:spPr>
        <p:txBody>
          <a:bodyPr/>
          <a:lstStyle/>
          <a:p>
            <a:endParaRPr lang="en-US"/>
          </a:p>
        </p:txBody>
      </p:sp>
      <p:sp>
        <p:nvSpPr>
          <p:cNvPr id="18" name="Text 16"/>
          <p:cNvSpPr txBox="1"/>
          <p:nvPr/>
        </p:nvSpPr>
        <p:spPr>
          <a:xfrm>
            <a:off x="777240" y="3931920"/>
            <a:ext cx="7589520" cy="274320"/>
          </a:xfrm>
          <a:prstGeom prst="rect">
            <a:avLst/>
          </a:prstGeom>
          <a:noFill/>
          <a:ln/>
        </p:spPr>
        <p:txBody>
          <a:bodyPr wrap="square" lIns="0" tIns="0" rIns="0" bIns="0" rtlCol="0" anchor="ctr"/>
          <a:lstStyle/>
          <a:p>
            <a:pPr marL="0" indent="0">
              <a:buNone/>
            </a:pPr>
            <a:r>
              <a:rPr lang="en-US" sz="1400" b="1" dirty="0">
                <a:solidFill>
                  <a:srgbClr val="0B1F3A"/>
                </a:solidFill>
                <a:latin typeface="Cambria" pitchFamily="34" charset="0"/>
                <a:ea typeface="Cambria" pitchFamily="34" charset="-122"/>
                <a:cs typeface="Cambria" pitchFamily="34" charset="-120"/>
              </a:rPr>
              <a:t>Variables de condición</a:t>
            </a:r>
            <a:endParaRPr lang="en-US" sz="1400" dirty="0"/>
          </a:p>
        </p:txBody>
      </p:sp>
      <p:sp>
        <p:nvSpPr>
          <p:cNvPr id="19" name="Text 17"/>
          <p:cNvSpPr txBox="1"/>
          <p:nvPr/>
        </p:nvSpPr>
        <p:spPr>
          <a:xfrm>
            <a:off x="777240" y="4251960"/>
            <a:ext cx="7589520" cy="320040"/>
          </a:xfrm>
          <a:prstGeom prst="rect">
            <a:avLst/>
          </a:prstGeom>
          <a:noFill/>
          <a:ln/>
        </p:spPr>
        <p:txBody>
          <a:bodyPr wrap="square" lIns="0" tIns="0" rIns="0" bIns="0" rtlCol="0" anchor="t"/>
          <a:lstStyle/>
          <a:p>
            <a:pPr marL="0" indent="0">
              <a:buNone/>
            </a:pPr>
            <a:r>
              <a:rPr lang="en-US" sz="1200" dirty="0">
                <a:solidFill>
                  <a:srgbClr val="1B2733"/>
                </a:solidFill>
                <a:latin typeface="Calibri" pitchFamily="34" charset="0"/>
                <a:ea typeface="Calibri" pitchFamily="34" charset="-122"/>
                <a:cs typeface="Calibri" pitchFamily="34" charset="-120"/>
              </a:rPr>
              <a:t>Permiten a un proceso esperar hasta que se cumpla cierta condición, normalmente junto con monitores o mutex.</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7498080" y="3657600"/>
            <a:ext cx="2743200" cy="2743200"/>
          </a:xfrm>
          <a:prstGeom prst="ellipse">
            <a:avLst/>
          </a:prstGeom>
          <a:solidFill>
            <a:srgbClr val="0E7C86"/>
          </a:solidFill>
          <a:ln/>
        </p:spPr>
        <p:txBody>
          <a:bodyPr/>
          <a:lstStyle/>
          <a:p>
            <a:endParaRPr lang="en-US"/>
          </a:p>
        </p:txBody>
      </p:sp>
      <p:sp>
        <p:nvSpPr>
          <p:cNvPr id="3" name="Text 1"/>
          <p:cNvSpPr txBox="1"/>
          <p:nvPr/>
        </p:nvSpPr>
        <p:spPr>
          <a:xfrm>
            <a:off x="731520" y="548640"/>
            <a:ext cx="54864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Conclusión</a:t>
            </a:r>
            <a:endParaRPr lang="en-US" sz="4000" dirty="0"/>
          </a:p>
        </p:txBody>
      </p:sp>
      <p:sp>
        <p:nvSpPr>
          <p:cNvPr id="4" name="Text 2"/>
          <p:cNvSpPr txBox="1"/>
          <p:nvPr/>
        </p:nvSpPr>
        <p:spPr>
          <a:xfrm>
            <a:off x="731520" y="1463040"/>
            <a:ext cx="7680960" cy="2651760"/>
          </a:xfrm>
          <a:prstGeom prst="rect">
            <a:avLst/>
          </a:prstGeom>
          <a:noFill/>
          <a:ln/>
        </p:spPr>
        <p:txBody>
          <a:bodyPr wrap="square" lIns="0" tIns="0" rIns="0" bIns="0" rtlCol="0" anchor="t"/>
          <a:lstStyle/>
          <a:p>
            <a:pPr marL="0" indent="0">
              <a:buNone/>
            </a:pPr>
            <a:r>
              <a:rPr lang="en-US" sz="1500" dirty="0">
                <a:solidFill>
                  <a:srgbClr val="E6EEF7"/>
                </a:solidFill>
                <a:latin typeface="Calibri" pitchFamily="34" charset="0"/>
                <a:ea typeface="Calibri" pitchFamily="34" charset="-122"/>
                <a:cs typeface="Calibri" pitchFamily="34" charset="-120"/>
              </a:rPr>
              <a:t>Dekker y Peterson resuelven el mismo problema: lograr que dos procesos no entren a la vez a su sección crítica, usando solo memoria compartida. Dekker fue la primera solución correcta, pero es complejo y su desarrollo pasó por cinco versiones con fallas. Peterson llegó después con una solución más simple, corta y fácil de demostrar, que cumple las mismas tres propiedades: exclusión mutua, progreso y espera acotada. Ambos comparten dos límites: solo funcionan con dos procesos y usan espera activa, por lo que hoy se prefieren mecanismos como semáforos, mutex y monitores. Aun así, siguen siendo la base para entender cómo se logra la exclusión mutua.</a:t>
            </a:r>
            <a:endParaRPr lang="en-US" sz="1500" dirty="0"/>
          </a:p>
        </p:txBody>
      </p:sp>
      <p:sp>
        <p:nvSpPr>
          <p:cNvPr id="5" name="Text 3"/>
          <p:cNvSpPr txBox="1"/>
          <p:nvPr/>
        </p:nvSpPr>
        <p:spPr>
          <a:xfrm>
            <a:off x="731520" y="4297680"/>
            <a:ext cx="7680960" cy="457200"/>
          </a:xfrm>
          <a:prstGeom prst="rect">
            <a:avLst/>
          </a:prstGeom>
          <a:noFill/>
          <a:ln/>
        </p:spPr>
        <p:txBody>
          <a:bodyPr wrap="square" lIns="0" tIns="0" rIns="0" bIns="0" rtlCol="0" anchor="ctr"/>
          <a:lstStyle/>
          <a:p>
            <a:pPr marL="0" indent="0">
              <a:buNone/>
            </a:pPr>
            <a:r>
              <a:rPr lang="en-US" sz="2000" i="1" dirty="0">
                <a:solidFill>
                  <a:srgbClr val="E8A33D"/>
                </a:solidFill>
                <a:latin typeface="Cambria" pitchFamily="34" charset="0"/>
                <a:ea typeface="Cambria" pitchFamily="34" charset="-122"/>
                <a:cs typeface="Cambria" pitchFamily="34" charset="-120"/>
              </a:rPr>
              <a:t>Dekker abrió el camino, </a:t>
            </a:r>
            <a:r>
              <a:rPr lang="en-US" sz="2000" i="1" dirty="0" err="1">
                <a:solidFill>
                  <a:srgbClr val="E8A33D"/>
                </a:solidFill>
                <a:latin typeface="Cambria" pitchFamily="34" charset="0"/>
                <a:ea typeface="Cambria" pitchFamily="34" charset="-122"/>
                <a:cs typeface="Cambria" pitchFamily="34" charset="-120"/>
              </a:rPr>
              <a:t>pero</a:t>
            </a:r>
            <a:r>
              <a:rPr lang="en-US" sz="2000" i="1" dirty="0">
                <a:solidFill>
                  <a:srgbClr val="E8A33D"/>
                </a:solidFill>
                <a:latin typeface="Cambria" pitchFamily="34" charset="0"/>
                <a:ea typeface="Cambria" pitchFamily="34" charset="-122"/>
                <a:cs typeface="Cambria" pitchFamily="34" charset="-120"/>
              </a:rPr>
              <a:t> Peterson lo hizo simple.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265</TotalTime>
  <Words>1959</Words>
  <Application>Microsoft Office PowerPoint</Application>
  <PresentationFormat>Presentación en pantalla (16:9)</PresentationFormat>
  <Paragraphs>259</Paragraphs>
  <Slides>26</Slides>
  <Notes>26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26</vt:i4>
      </vt:variant>
    </vt:vector>
  </HeadingPairs>
  <TitlesOfParts>
    <vt:vector size="30"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GALLEGOS GONCALVES, VALERIA CATARINA</cp:lastModifiedBy>
  <cp:revision>3</cp:revision>
  <dcterms:created xsi:type="dcterms:W3CDTF">2026-10-01T11:21:34Z</dcterms:created>
  <dcterms:modified xsi:type="dcterms:W3CDTF">2026-10-11T20:35:32Z</dcterms:modified>
</cp:coreProperties>
</file>